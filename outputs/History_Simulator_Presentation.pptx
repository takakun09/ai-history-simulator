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B6E0"/>
                </a:solidFill>
                <a:latin typeface="Arial"/>
              </a:rPr>
              <a:t>AI IN EDUCATION  · 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An AI That Might Be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7D3E4"/>
                </a:solidFill>
                <a:latin typeface="Arial"/>
              </a:rPr>
              <a:t>Teaching historical thinking by making students cross-check a biased historical narrator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120640"/>
            <a:ext cx="1280160" cy="36576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AEC4"/>
                </a:solidFill>
                <a:latin typeface="Arial"/>
              </a:rPr>
              <a:t>[Team members]   · 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Students ask AI for answers, not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B2430"/>
                </a:solidFill>
                <a:latin typeface="Arial"/>
              </a:rPr>
              <a:t>Generative AI makes a confident answer available in seconds — and makes it easy to skip thinking.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20924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743200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B2430"/>
                </a:solidFill>
                <a:latin typeface="Arial"/>
              </a:rPr>
              <a:t>Large language models hallucinate and flatter the user. Students rarely check.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51860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7413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B2430"/>
                </a:solidFill>
                <a:latin typeface="Arial"/>
              </a:rPr>
              <a:t>The abilities history actually requires — sourcing, contextualizing, corroborating — are not taught by telling.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5780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1F2A44"/>
                </a:solidFill>
                <a:latin typeface="Arial"/>
              </a:rPr>
              <a:t>The more useful the tool feels, the less the student has to think. That is the design problem we started from.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What is missing from 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B2430"/>
                </a:solidFill>
                <a:latin typeface="Arial"/>
              </a:rPr>
              <a:t>AI role-play is well studied for language learning — far less for disciplinary reasoning.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3230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6B7686"/>
                </a:solidFill>
                <a:latin typeface="Arial"/>
              </a:rPr>
              <a:t>Most systems are built to converse fluently, not to train the evaluation of evidence.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7151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189427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B2430"/>
                </a:solidFill>
                <a:latin typeface="Arial"/>
              </a:rPr>
              <a:t>Historical thinking is usually assessed by essay, rarely by an interactive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509467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6B7686"/>
                </a:solidFill>
                <a:latin typeface="Arial"/>
              </a:rPr>
              <a:t>There is no widely used instrument for measuring it inside a dialogue.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44314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266590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B2430"/>
                </a:solidFill>
                <a:latin typeface="Arial"/>
              </a:rPr>
              <a:t>Almost no work treats the model's unreliability as designed teaching material.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586630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6B7686"/>
                </a:solidFill>
                <a:latin typeface="Arial"/>
              </a:rPr>
              <a:t>The bias is treated as a defect to remove, rather than a source of cognitive conflict.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Make the AI a witness, not an encyclopedia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4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B2430"/>
                </a:solidFill>
                <a:latin typeface="Arial"/>
              </a:rPr>
              <a:t>The model plays a historical actor with a stake and a point of view.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73862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60904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It is allowed to be partial, self-serving, and sometimes simply wrong.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69564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291840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student interrogates it, then checks its claims against primary sources.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000500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922776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student decides, and has to defend the decision with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810512"/>
            <a:ext cx="49377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zhuge-li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084831"/>
            <a:ext cx="155448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86016" y="373075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Zhuge Liang</a:t>
            </a:r>
          </a:p>
        </p:txBody>
      </p:sp>
      <p:pic>
        <p:nvPicPr>
          <p:cNvPr id="16" name="Picture 15" descr="soc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084831"/>
            <a:ext cx="1554480" cy="1554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22208" y="373075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Socrates</a:t>
            </a:r>
          </a:p>
        </p:txBody>
      </p:sp>
      <p:pic>
        <p:nvPicPr>
          <p:cNvPr id="18" name="Picture 17" descr="lincol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084831"/>
            <a:ext cx="155448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58400" y="373075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Abraham Lincoln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5196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Three figures, each with a documented position and a set of primary 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What students should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430"/>
                </a:solidFill>
                <a:latin typeface="Arial"/>
              </a:rPr>
              <a:t>Understand a historical decision from more than one vantage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3230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Not a single correct narrative, but the constraint each actor was under.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175711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097987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430"/>
                </a:solidFill>
                <a:latin typeface="Arial"/>
              </a:rPr>
              <a:t>Source, contextualize, and corroborate.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18027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The three operations that define historical thinking in the literature.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161434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083710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430"/>
                </a:solidFill>
                <a:latin typeface="Arial"/>
              </a:rPr>
              <a:t>Explain why people acted as they did — without excusing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403750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Historical empathy as perspective recognition.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147157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5069433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430"/>
                </a:solidFill>
                <a:latin typeface="Arial"/>
              </a:rPr>
              <a:t>Defend a decision with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5389473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The output is a written argument, not a correct answer.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6132880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605515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430"/>
                </a:solidFill>
                <a:latin typeface="Arial"/>
              </a:rPr>
              <a:t>Treat a confident model as a source to be checked.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6375196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6"/>
                </a:solidFill>
                <a:latin typeface="Arial"/>
              </a:rPr>
              <a:t>AI literacy that transfers beyond the history classroom.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Theoretical grounding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57984"/>
            <a:ext cx="10607040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3113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2311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2" y="22311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2311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Where it lands in the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24328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6791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Arial"/>
              </a:rPr>
              <a:t>Historical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6791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Wineburg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26791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Sourcing, contextualization, corroboration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267919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6EA5"/>
                </a:solidFill>
                <a:latin typeface="Arial"/>
              </a:rPr>
              <a:t>Rubric dimensions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39242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Arial"/>
              </a:rPr>
              <a:t>Historical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339242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van Drie &amp; van Boxtel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1" y="339242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Asking questions, using sources, arguing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339242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6EA5"/>
                </a:solidFill>
                <a:latin typeface="Arial"/>
              </a:rPr>
              <a:t>Decision task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50792"/>
            <a:ext cx="10607040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105656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Arial"/>
              </a:rPr>
              <a:t>Situated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832" y="4105656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Lave &amp; Wenger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1" y="41056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Learning inside an authentic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410565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6EA5"/>
                </a:solidFill>
                <a:latin typeface="Arial"/>
              </a:rPr>
              <a:t>Role-play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81888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2A44"/>
                </a:solidFill>
                <a:latin typeface="Arial"/>
              </a:rPr>
              <a:t>Productive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7832" y="481888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Kapur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1" y="48188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Struggle before instruction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48188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A6EA5"/>
                </a:solidFill>
                <a:latin typeface="Arial"/>
              </a:rPr>
              <a:t>AI withholds the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1F2A44"/>
                </a:solidFill>
                <a:latin typeface="Arial"/>
              </a:rPr>
              <a:t>Every framework maps to a concrete feature or rubric row — none of them is decoration.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9424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9424"/>
            <a:ext cx="2487168" cy="685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054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A44"/>
                </a:solidFill>
                <a:latin typeface="Arial"/>
              </a:rPr>
              <a:t>Scenario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96265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6"/>
                </a:solidFill>
                <a:latin typeface="Arial"/>
              </a:rPr>
              <a:t>Sets the moment and the decision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249424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2249424"/>
            <a:ext cx="2487168" cy="685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5054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A44"/>
                </a:solidFill>
                <a:latin typeface="Arial"/>
              </a:rPr>
              <a:t>Source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6265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6"/>
                </a:solidFill>
                <a:latin typeface="Arial"/>
              </a:rPr>
              <a:t>Primary and secondary sources, with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249424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2249424"/>
            <a:ext cx="2487168" cy="685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5054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A44"/>
                </a:solidFill>
                <a:latin typeface="Arial"/>
              </a:rPr>
              <a:t>Persona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96265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6"/>
                </a:solidFill>
                <a:latin typeface="Arial"/>
              </a:rPr>
              <a:t>Plays the historical actor, grounded in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249424"/>
            <a:ext cx="248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976" y="2249424"/>
            <a:ext cx="2487168" cy="685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5054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A44"/>
                </a:solidFill>
                <a:latin typeface="Arial"/>
              </a:rPr>
              <a:t>Diagnosis &amp; teacher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96265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686"/>
                </a:solidFill>
                <a:latin typeface="Arial"/>
              </a:rPr>
              <a:t>Scores arguments, aggregates the class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4106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A6EA5"/>
                </a:solidFill>
                <a:latin typeface="Arial"/>
              </a:rPr>
              <a:t>Student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61104"/>
            <a:ext cx="10607040" cy="4572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89704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430"/>
                </a:solidFill>
                <a:latin typeface="Arial"/>
              </a:rPr>
              <a:t>Built entirely on a pretrained model accessed through an API, plus prompt engineering and a small source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430"/>
                </a:solidFill>
                <a:latin typeface="Arial"/>
              </a:rPr>
              <a:t>library. No model was trained or fine-tuned — a deliberate scope decision, not a limitation we stumbled into.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HOW A SESSION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The learning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32304"/>
            <a:ext cx="19385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193852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6151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Interrogate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008376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Ask the historical 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98094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3A6EA5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5224" y="2432304"/>
            <a:ext cx="19385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35224" y="2432304"/>
            <a:ext cx="193852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6151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Check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3008376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Judge the claim against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98094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3A6EA5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3208" y="2432304"/>
            <a:ext cx="19385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3208" y="2432304"/>
            <a:ext cx="193852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26151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008376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Choose at a decision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98094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3A6EA5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51192" y="2432304"/>
            <a:ext cx="19385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1192" y="2432304"/>
            <a:ext cx="193852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26151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Justify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3008376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Write the argument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98094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3A6EA5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9176" y="2432304"/>
            <a:ext cx="19385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09176" y="2432304"/>
            <a:ext cx="193852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6151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008376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Scores, agreement,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078224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loop is the pedagogical claim. Students are never handed the answer: the model is a source to be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cross-examined, and the gradeable artefact is their reasoning, not their recall.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12264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12264"/>
            <a:ext cx="3401568" cy="6858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048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44"/>
                </a:solidFill>
                <a:latin typeface="Arial"/>
              </a:rPr>
              <a:t>Student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8094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Pick a figure, then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3832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One-click source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Decision + written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187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Personal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7" y="2112264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7" y="2112264"/>
            <a:ext cx="3401568" cy="6858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4048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44"/>
                </a:solidFill>
                <a:latin typeface="Arial"/>
              </a:rPr>
              <a:t>Teacher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98094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Author figures and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832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Edit the source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785615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Design decision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187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Publish to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5" y="2112264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5" y="2112264"/>
            <a:ext cx="3401568" cy="685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24048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44"/>
                </a:solidFill>
                <a:latin typeface="Arial"/>
              </a:rPr>
              <a:t>Class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298094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Submissions and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33832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Five-dimension averages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3785615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Weakest dimension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7" y="41879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·  Recent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8406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686"/>
                </a:solidFill>
                <a:latin typeface="Arial"/>
              </a:rPr>
              <a:t>Screenshots to insert: student chat · source check · decision scoring · profile · teacher editor · analytics.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ASSESSMENT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Assessing historical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12264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44"/>
                </a:solidFill>
                <a:latin typeface="Arial"/>
              </a:rPr>
              <a:t>Five dimensions, each scored 0–3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69464"/>
            <a:ext cx="676656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6700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Arial"/>
              </a:rPr>
              <a:t>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700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Arial"/>
              </a:rPr>
              <a:t>Notes the origin and position of a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291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Arial"/>
              </a:rPr>
              <a:t>Contextualization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918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Arial"/>
              </a:rPr>
              <a:t>Places a decision in its period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13048"/>
            <a:ext cx="676656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913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Arial"/>
              </a:rPr>
              <a:t>Corroboration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91363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Arial"/>
              </a:rPr>
              <a:t>Compares more than one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53542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Arial"/>
              </a:rPr>
              <a:t>Argumentation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53542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Arial"/>
              </a:rPr>
              <a:t>Claim — evidence — reasoning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056632"/>
            <a:ext cx="676656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15721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2A44"/>
                </a:solidFill>
                <a:latin typeface="Arial"/>
              </a:rPr>
              <a:t>Historical empathy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15721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686"/>
                </a:solidFill>
                <a:latin typeface="Arial"/>
              </a:rPr>
              <a:t>Explains motive under constraint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12264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38658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A6EA5"/>
                </a:solidFill>
                <a:latin typeface="Arial"/>
              </a:rPr>
              <a:t>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889504"/>
            <a:ext cx="2834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Scoring runs twice, at two temperatures.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The two passes are averaged, and each dimension is tagged high / medium / low agreement.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Low agreement flags the case for human review instead of silently trusting the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Educational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B2430"/>
                </a:solidFill>
                <a:latin typeface="Arial"/>
              </a:rPr>
              <a:t>It turns the most convenient feature of AI into the object of study.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3230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7686"/>
                </a:solidFill>
                <a:latin typeface="Arial"/>
              </a:rPr>
              <a:t>Instead of blocking the model, students learn to interrogate it.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48863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171139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B2430"/>
                </a:solidFill>
                <a:latin typeface="Arial"/>
              </a:rPr>
              <a:t>It makes an invisible disciplinary skill visible and practiceable.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91179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7686"/>
                </a:solidFill>
                <a:latin typeface="Arial"/>
              </a:rPr>
              <a:t>Sourcing and corroboration become actions, not essay conventions.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0773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23001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B2430"/>
                </a:solidFill>
                <a:latin typeface="Arial"/>
              </a:rPr>
              <a:t>It gives teachers a class-level view of reasoning, not just scores.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55005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7686"/>
                </a:solidFill>
                <a:latin typeface="Arial"/>
              </a:rPr>
              <a:t>Which dimension is weak for this cohort, and which figure provoked it.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366613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5288889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B2430"/>
                </a:solidFill>
                <a:latin typeface="Arial"/>
              </a:rPr>
              <a:t>It transfers outside history.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5608929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7686"/>
                </a:solidFill>
                <a:latin typeface="Arial"/>
              </a:rPr>
              <a:t>Treating a fluent, confident source with suspicion is a general competence.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WHAT WE CAN ALREADY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B2430"/>
                </a:solidFill>
                <a:latin typeface="Arial"/>
              </a:rPr>
              <a:t>A working prototype exists — student, teacher, and analytics consoles.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434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706624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B2430"/>
                </a:solidFill>
                <a:latin typeface="Arial"/>
              </a:rPr>
              <a:t>No model training; a pretrained model behind an API plus prompt engineering.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7870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00984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B2430"/>
                </a:solidFill>
                <a:latin typeface="Arial"/>
              </a:rPr>
              <a:t>Runs on a laptop with the Python standard library; no dependencies to install.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7306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895344"/>
            <a:ext cx="5779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B2430"/>
                </a:solidFill>
                <a:latin typeface="Arial"/>
              </a:rPr>
              <a:t>An offline mode lets the demonstration run without any API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112264"/>
            <a:ext cx="4297680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38658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44"/>
                </a:solidFill>
                <a:latin typeface="Arial"/>
              </a:rPr>
              <a:t>What is still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889504"/>
            <a:ext cx="37490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430"/>
                </a:solidFill>
                <a:latin typeface="Arial"/>
              </a:rPr>
              <a:t>Evidence of learning.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43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430"/>
                </a:solidFill>
                <a:latin typeface="Arial"/>
              </a:rPr>
              <a:t>We have a design and a working artefact. We do not yet have pre/post data — a short qualitative pilot is the next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HONEST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construct is hard to measure: five rubric dimensions can only approximate historical thinking.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6060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8833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Automated scoring of open-ended argument is unstable; agreement is reported rather than hidden.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42132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264408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pilot is small and short. Any learning gain we report is a signal, not proof.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18204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840480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Historical accuracy depends on the source library; a thin library produces a weak exercise.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94276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416552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Sensitive topics need curation — the same realism that makes the design work can also misfire.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Ethical and social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Designed bias must be labelled as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3230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Students must not conclude that the past is simply unknowable.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30575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152851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Student dialogue is sensitive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72891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It is stored locally; any classroom deployment needs consent and a retention policy.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71162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193438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Cost and language shape who can use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513478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Hosted APIs cost money and carry a Western bias; a local model path matters for equity.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311749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5234025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The teacher is augmented, not replaced.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5554065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The system surfaces reasoning; it does not make the judgement.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TRADE-OFFS WE CHOSE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Critical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1060704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1284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Let the AI be biased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12848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Historical thinking can only be practised against a partial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21284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Risk of reinforcing error → labelled, curated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14553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Ground every reply in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145536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Keeps the bias designed and gradeable rather than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145536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Slower to author; a thin library weakens the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68496"/>
            <a:ext cx="1060704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07822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Score twice and report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78224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Makes scoring reliability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078224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Roughly doubles scoring cost → opt-in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01091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Arial"/>
              </a:rPr>
              <a:t>No 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010912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430"/>
                </a:solidFill>
                <a:latin typeface="Arial"/>
              </a:rPr>
              <a:t>Two-week scope; prompts plus retrieval are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010912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686"/>
                </a:solidFill>
                <a:latin typeface="Arial"/>
              </a:rPr>
              <a:t>Ceiling on stylistic control; acceptable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34455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686"/>
                </a:solidFill>
                <a:latin typeface="Arial"/>
              </a:rPr>
              <a:t>left: decision      middle: why      right: the cost we accepted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EA5"/>
                </a:solidFill>
                <a:latin typeface="Arial"/>
              </a:rPr>
              <a:t>WHERE THIS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F2A44"/>
                </a:solidFill>
                <a:latin typeface="Arial"/>
              </a:rPr>
              <a:t>Research gaps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10512"/>
            <a:ext cx="1005840" cy="41148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89988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1226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A validated instrument for critical AI literacy.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32304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Our rubric is a first draft; it needs reliability and validity evidence across cohorts.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12287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134563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Longer-term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54603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Does source-checking inside the simulation change how students read sources outside it?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34586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156862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Multimodal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4476902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Maps, images, and objects as additional conflicting evidence.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56885"/>
            <a:ext cx="82296" cy="82296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5179161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B2430"/>
                </a:solidFill>
                <a:latin typeface="Arial"/>
              </a:rPr>
              <a:t>Localisation.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5499201"/>
            <a:ext cx="10076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686"/>
                </a:solidFill>
                <a:latin typeface="Arial"/>
              </a:rPr>
              <a:t>Non-Western figures and non-English sources, using locally hosted models.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7D3E4"/>
                </a:solidFill>
                <a:latin typeface="Arial"/>
              </a:rPr>
              <a:t>The prototype is running on the laptop — we can walk through it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FB5"/>
                </a:solidFill>
                <a:latin typeface="Arial"/>
              </a:rPr>
              <a:t>[Team members]   ·   AI in Education   · 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768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