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using AI</c:v>
                </c:pt>
              </c:strCache>
            </c:strRef>
          </c:tx>
          <c:spPr>
            <a:solidFill>
              <a:srgbClr val="3A6EA5"/>
            </a:solidFill>
          </c:spPr>
          <c:cat>
            <c:strRef>
              <c:f>Sheet1!$A$2:$A$3</c:f>
              <c:strCache>
                <c:ptCount val="2"/>
                <c:pt idx="0">
                  <c:v>May 2025</c:v>
                </c:pt>
                <c:pt idx="1">
                  <c:v>Dec 2025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48</c:v>
                </c:pt>
                <c:pt idx="1">
                  <c:v>62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</c:scaling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2F6F5E"/>
            </a:solidFill>
          </c:spPr>
          <c:cat>
            <c:strRef>
              <c:f>Sheet1!$A$2:$A$4</c:f>
              <c:strCache>
                <c:ptCount val="3"/>
                <c:pt idx="0">
                  <c:v>Better explanations</c:v>
                </c:pt>
                <c:pt idx="1">
                  <c:v>Ideas</c:v>
                </c:pt>
                <c:pt idx="2">
                  <c:v>Facts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</c:v>
                </c:pt>
                <c:pt idx="1">
                  <c:v>35</c:v>
                </c:pt>
                <c:pt idx="2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5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0.0"/>
        </c:scaling>
        <c:delete val="0"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0"/>
          </a:solidFill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916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8FB6E0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400" b="1" i="0">
                <a:solidFill>
                  <a:srgbClr val="FFFFFF"/>
                </a:solidFill>
                <a:latin typeface="Arial"/>
                <a:ea typeface="Arial"/>
              </a:rPr>
              <a:t>When AI Gives 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4612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C7D3E4"/>
                </a:solidFill>
                <a:latin typeface="Arial"/>
                <a:ea typeface="Arial"/>
              </a:rPr>
              <a:t>Training judgment with a historian who may be wrong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972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FAEC4"/>
                </a:solidFill>
                <a:latin typeface="Arial"/>
                <a:ea typeface="Arial"/>
              </a:rPr>
              <a:t>[Team members]   ·   AI in Education   ·  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64008" cy="9144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24027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A6EA5"/>
                </a:solidFill>
                <a:latin typeface="Arial"/>
                <a:ea typeface="Arial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13055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44"/>
                </a:solidFill>
                <a:latin typeface="Arial"/>
                <a:ea typeface="Arial"/>
              </a:rPr>
              <a:t>How do students learn now?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514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They ask AI first.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17520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017520"/>
            <a:ext cx="64008" cy="9144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329183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A6EA5"/>
                </a:solidFill>
                <a:latin typeface="Arial"/>
                <a:ea typeface="Arial"/>
              </a:rPr>
              <a:t>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182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44"/>
                </a:solidFill>
                <a:latin typeface="Arial"/>
                <a:ea typeface="Arial"/>
              </a:rPr>
              <a:t>Can AI train thinking?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Or does it think for us?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69079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69079"/>
            <a:ext cx="64008" cy="9144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343399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3A6EA5"/>
                </a:solidFill>
                <a:latin typeface="Arial"/>
                <a:ea typeface="Arial"/>
              </a:rPr>
              <a:t>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233671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F2A44"/>
                </a:solidFill>
                <a:latin typeface="Arial"/>
                <a:ea typeface="Arial"/>
              </a:rPr>
              <a:t>Does it work?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4617719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Can we trust the score?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578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3A6EA5"/>
                </a:solidFill>
                <a:latin typeface="Arial"/>
                <a:ea typeface="Arial"/>
              </a:rPr>
              <a:t>The question is not whether AI can teach — but whether students still think.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AI for homework: 48% → 62%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2057400"/>
          <a:ext cx="603504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178040" y="2148840"/>
            <a:ext cx="42062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228600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C8622A"/>
                </a:solidFill>
                <a:latin typeface="Arial"/>
                <a:ea typeface="Arial"/>
              </a:rPr>
              <a:t>+14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834639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in 7 months · 1,214 teens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749039"/>
            <a:ext cx="4114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Arial"/>
                <a:ea typeface="Arial"/>
              </a:rPr>
              <a:t>·  45% have used AI at school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206240"/>
            <a:ext cx="411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Arial"/>
                <a:ea typeface="Arial"/>
              </a:rPr>
              <a:t>·  85% of AI-using teens use it for schoolwork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Arial"/>
                <a:ea typeface="Arial"/>
              </a:rPr>
              <a:t>Sources: RAND (2026-03, n=1,214), HEPI (2025-02), Common Sense Media (2025)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But always for the same 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2148840"/>
          <a:ext cx="694944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001000" y="2240279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560320"/>
            <a:ext cx="28346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B2430"/>
                </a:solidFill>
                <a:latin typeface="Arial"/>
                <a:ea typeface="Arial"/>
              </a:rPr>
              <a:t>All three mean:</a:t>
            </a:r>
          </a:p>
          <a:p>
            <a:pPr algn="l">
              <a:lnSpc>
                <a:spcPct val="150000"/>
              </a:lnSpc>
            </a:pPr>
            <a:r>
              <a:rPr sz="1400" b="0" i="0">
                <a:solidFill>
                  <a:srgbClr val="1B2430"/>
                </a:solidFill>
                <a:latin typeface="Arial"/>
                <a:ea typeface="Arial"/>
              </a:rPr>
              <a:t>"let AI think for me."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Arial"/>
                <a:ea typeface="Arial"/>
              </a:rPr>
              <a:t>Source: CSBA Blog citing a 2026 student survey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Teachers worry: do students still think?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03120"/>
            <a:ext cx="3291840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F2A44"/>
                </a:solidFill>
                <a:latin typeface="Arial"/>
                <a:ea typeface="Arial"/>
              </a:rPr>
              <a:t>54%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546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say AI makes critical thinking harder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10312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103120"/>
            <a:ext cx="3291840" cy="64008"/>
          </a:xfrm>
          <a:prstGeom prst="rect">
            <a:avLst/>
          </a:prstGeom>
          <a:solidFill>
            <a:srgbClr val="C862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F2A44"/>
                </a:solidFill>
                <a:latin typeface="Arial"/>
                <a:ea typeface="Arial"/>
              </a:rPr>
              <a:t>43.2%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1546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worried about student AI use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1000" y="2103120"/>
            <a:ext cx="32918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2103120"/>
            <a:ext cx="3291840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42316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F2A44"/>
                </a:solidFill>
                <a:latin typeface="Arial"/>
                <a:ea typeface="Arial"/>
              </a:rPr>
              <a:t>66%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154680"/>
            <a:ext cx="2743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of England secondary teachers concerned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Arial"/>
                <a:ea typeface="Arial"/>
              </a:rPr>
              <a:t>Sources: teacher poll (2026-06), National Literacy Trust (2025-08), England survey (2026)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History's core skill is the easiest to outsource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AI answers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651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79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Student skips checking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651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19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9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Sourcing is skipped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39" y="265176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95359" y="2286000"/>
            <a:ext cx="233172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377440"/>
            <a:ext cx="20574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Only conclusions remain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749039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F2A44"/>
                </a:solidFill>
                <a:latin typeface="Arial"/>
                <a:ea typeface="Arial"/>
              </a:rPr>
              <a:t>History is not "what happened" — it is "why believe it happened".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7686"/>
                </a:solidFill>
                <a:latin typeface="Arial"/>
                <a:ea typeface="Arial"/>
              </a:rPr>
              <a:t>The smoother AI gets, the less reason to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Five ways AI is used in education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57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</a:rPr>
              <a:t>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67912" y="205740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</a:rPr>
              <a:t>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1271" y="205740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</a:rPr>
              <a:t>Solves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14016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468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AI tutor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7911" y="246888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Explains in chat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91272" y="246888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Arial"/>
                <a:ea typeface="Arial"/>
              </a:rPr>
              <a:t>Understanding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18211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Essay grading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1" y="3182112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Scores + advice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2" y="318211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Arial"/>
                <a:ea typeface="Arial"/>
              </a:rPr>
              <a:t>Teacher load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840480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9534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Question gen.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1" y="389534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Auto-made items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91272" y="3895344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Arial"/>
                <a:ea typeface="Arial"/>
              </a:rPr>
              <a:t>Practice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6085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Translation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67911" y="4608576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Live translate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91272" y="4608576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Arial"/>
                <a:ea typeface="Arial"/>
              </a:rPr>
              <a:t>Language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66944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32180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Role-play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67911" y="5321808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Chat with figures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91272" y="5321808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B2430"/>
                </a:solidFill>
                <a:latin typeface="Arial"/>
                <a:ea typeface="Arial"/>
              </a:rPr>
              <a:t>Immersion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172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3A6EA5"/>
                </a:solidFill>
                <a:latin typeface="Arial"/>
                <a:ea typeface="Arial"/>
              </a:rPr>
              <a:t>All five shorten the distance to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The gap: AI as material to doubt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2057400"/>
            <a:ext cx="5852160" cy="3200400"/>
          </a:xfrm>
          <a:prstGeom prst="rect">
            <a:avLst/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00200" y="2057400"/>
            <a:ext cx="2926080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00200" y="3657600"/>
            <a:ext cx="2926080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26280" y="2057400"/>
            <a:ext cx="18288" cy="32004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00200" y="3657600"/>
            <a:ext cx="5852160" cy="18288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00200" y="5367528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AI: gives answers  ←→  is questioned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General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749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History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01368" y="23317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AI tutor / grading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(mainstream)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27448" y="23317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Rare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931920"/>
            <a:ext cx="2651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Historical chat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(mainstream)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27448" y="3858768"/>
            <a:ext cx="2523744" cy="1197864"/>
          </a:xfrm>
          <a:prstGeom prst="roundRect">
            <a:avLst>
              <a:gd name="adj" fmla="val 8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4041648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  <a:ea typeface="Arial"/>
              </a:rPr>
              <a:t>This project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10241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7686"/>
                </a:solidFill>
                <a:latin typeface="Arial"/>
                <a:ea typeface="Arial"/>
              </a:rPr>
              <a:t>Indicative positioning, not an exhaustive review.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Our approach: an AI witness, not an oracle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1B2430"/>
                </a:solidFill>
                <a:latin typeface="Arial"/>
                <a:ea typeface="Arial"/>
              </a:rPr>
              <a:t>The AI plays a historical actor with a stake — and can be wrong. Students check sources, then decide.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Push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4056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53512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53512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3240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Compare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29783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9783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9512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9512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Pick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06055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06055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15783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Justify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15783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Explain why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3200400"/>
            <a:ext cx="21945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82328" y="2743200"/>
            <a:ext cx="1956816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82328" y="2743200"/>
            <a:ext cx="1956816" cy="64008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92055" y="2907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92055" y="3291839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Score + profile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0624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1">
                <a:solidFill>
                  <a:srgbClr val="3A6EA5"/>
                </a:solidFill>
                <a:latin typeface="Arial"/>
                <a:ea typeface="Arial"/>
              </a:rPr>
              <a:t>One difference: the AI is not the answer — it is a source to check.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Four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Arial"/>
                <a:ea typeface="Arial"/>
              </a:rPr>
              <a:t>Scenario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a moment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02152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Arial"/>
                <a:ea typeface="Arial"/>
              </a:rPr>
              <a:t>Sources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with provenance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Arial"/>
                <a:ea typeface="Arial"/>
              </a:rPr>
              <a:t>Persona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1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grounded in sources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2057400"/>
            <a:ext cx="2487168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2057400"/>
            <a:ext cx="2487168" cy="64008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3144" y="225856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F2A44"/>
                </a:solidFill>
                <a:latin typeface="Arial"/>
                <a:ea typeface="Arial"/>
              </a:rPr>
              <a:t>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679191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6B7686"/>
                </a:solidFill>
                <a:latin typeface="Arial"/>
                <a:ea typeface="Arial"/>
              </a:rPr>
              <a:t>scores +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56616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430"/>
                </a:solidFill>
                <a:latin typeface="Arial"/>
                <a:ea typeface="Arial"/>
              </a:rPr>
              <a:t>Pretrained model + prompts + a small source library. No training.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2519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6"/>
                </a:solidFill>
                <a:latin typeface="Arial"/>
                <a:ea typeface="Arial"/>
              </a:rPr>
              <a:t>[ screenshot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Student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Pick a figure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30752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0752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Ask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Check sources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148840"/>
            <a:ext cx="2487168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233172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3A6EA5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301752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1F2A44"/>
                </a:solidFill>
                <a:latin typeface="Arial"/>
                <a:ea typeface="Arial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2519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6"/>
                </a:solidFill>
                <a:latin typeface="Arial"/>
                <a:ea typeface="Arial"/>
              </a:rPr>
              <a:t>[ screenshot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Teacher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6F5E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44"/>
                </a:solidFill>
                <a:latin typeface="Arial"/>
                <a:ea typeface="Arial"/>
              </a:rPr>
              <a:t>Generate the persona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21945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6F5E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30632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44"/>
                </a:solidFill>
                <a:latin typeface="Arial"/>
                <a:ea typeface="Arial"/>
              </a:rPr>
              <a:t>Edit sources &amp; decisions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194560"/>
            <a:ext cx="32918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3774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F6F5E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063239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F2A44"/>
                </a:solidFill>
                <a:latin typeface="Arial"/>
                <a:ea typeface="Arial"/>
              </a:rPr>
              <a:t>Publish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8056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6"/>
                </a:solidFill>
                <a:latin typeface="Arial"/>
                <a:ea typeface="Arial"/>
              </a:rPr>
              <a:t>[ screenshot 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Five things we look at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07568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Sourcing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9397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Arial"/>
                <a:ea typeface="Arial"/>
              </a:rPr>
              <a:t>Where from?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207568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09397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Arial"/>
                <a:ea typeface="Arial"/>
              </a:rPr>
              <a:t>In its 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92608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292608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" y="30358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Corroboration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05409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Arial"/>
                <a:ea typeface="Arial"/>
              </a:rPr>
              <a:t>Compare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92608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92608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30358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Argument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54096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Arial"/>
                <a:ea typeface="Arial"/>
              </a:rPr>
              <a:t>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886200"/>
            <a:ext cx="512064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3886200"/>
            <a:ext cx="54864" cy="804672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399592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Empathy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4014215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B7686"/>
                </a:solidFill>
                <a:latin typeface="Arial"/>
                <a:ea typeface="Arial"/>
              </a:rPr>
              <a:t>Their situation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2062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B2430"/>
                </a:solidFill>
                <a:latin typeface="Arial"/>
                <a:ea typeface="Arial"/>
              </a:rPr>
              <a:t>0–3 · 15 pts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Scoring: run it twice, check 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t =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532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Pass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102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t = 0.5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532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Compare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53288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3A6EA5"/>
                </a:solidFill>
                <a:latin typeface="Arial"/>
                <a:ea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2148840"/>
            <a:ext cx="242316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15984" y="229514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Flag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6090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B7686"/>
                </a:solidFill>
                <a:latin typeface="Arial"/>
                <a:ea typeface="Arial"/>
              </a:rPr>
              <a:t>low →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56616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776472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B2430"/>
                </a:solidFill>
                <a:latin typeface="Arial"/>
                <a:ea typeface="Arial"/>
              </a:rPr>
              <a:t>If the two passes disagree, we say so.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User feedback (illustrative)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2130552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Arial"/>
                <a:ea typeface="Arial"/>
              </a:rPr>
              <a:t>“Now it asks me back, so I have to think.”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79" y="22402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Arial"/>
                <a:ea typeface="Arial"/>
              </a:rPr>
              <a:t>Student 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2130552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Arial"/>
                <a:ea typeface="Arial"/>
              </a:rPr>
              <a:t>“I found out AI's answer didn't match the book.”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95559" y="22402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Arial"/>
                <a:ea typeface="Arial"/>
              </a:rPr>
              <a:t>Student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990088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154680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Arial"/>
                <a:ea typeface="Arial"/>
              </a:rPr>
              <a:t>“I thought it was good. It got 2.”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Arial"/>
                <a:ea typeface="Arial"/>
              </a:rPr>
              <a:t>Student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990088"/>
            <a:ext cx="51206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154680"/>
            <a:ext cx="38404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Arial"/>
                <a:ea typeface="Arial"/>
              </a:rPr>
              <a:t>“Can I use this in other subjects?”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5559" y="326440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Arial"/>
                <a:ea typeface="Arial"/>
              </a:rPr>
              <a:t>Student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014216"/>
            <a:ext cx="10607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4178808"/>
            <a:ext cx="9326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B2430"/>
                </a:solidFill>
                <a:latin typeface="Arial"/>
                <a:ea typeface="Arial"/>
              </a:rPr>
              <a:t>“Writing the persona used to take hours.”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42885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 i="0">
                <a:solidFill>
                  <a:srgbClr val="6B7686"/>
                </a:solidFill>
                <a:latin typeface="Arial"/>
                <a:ea typeface="Arial"/>
              </a:rPr>
              <a:t>Teacher 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206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8622A"/>
                </a:solidFill>
                <a:latin typeface="Arial"/>
                <a:ea typeface="Arial"/>
              </a:rPr>
              <a:t>Illustrative only — to be replaced with real data.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How we code the feedback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205740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0" y="205740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  <a:ea typeface="Arial"/>
              </a:rPr>
              <a:t>Typical 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414016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4688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Effort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24688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"Harder, but I'm more into it"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8211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Trust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182112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"AI can be wrong"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40480"/>
            <a:ext cx="10607040" cy="65836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895344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Self-judgement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3895344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"I thought it was good"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460857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F2A44"/>
                </a:solidFill>
                <a:latin typeface="Arial"/>
                <a:ea typeface="Arial"/>
              </a:rPr>
              <a:t>Transfer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608576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7686"/>
                </a:solidFill>
                <a:latin typeface="Arial"/>
                <a:ea typeface="Arial"/>
              </a:rPr>
              <a:t>"Other subjects?"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Four hypotheses to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96596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185415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Arial"/>
                <a:ea typeface="Arial"/>
              </a:rPr>
              <a:t>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20370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Arial"/>
                <a:ea typeface="Arial"/>
              </a:rPr>
              <a:t>Students think more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92608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2608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14553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Arial"/>
                <a:ea typeface="Arial"/>
              </a:rPr>
              <a:t>H2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16382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Arial"/>
                <a:ea typeface="Arial"/>
              </a:rPr>
              <a:t>They stop trusting AI blindly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88620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88620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10565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Arial"/>
                <a:ea typeface="Arial"/>
              </a:rPr>
              <a:t>H3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412394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Arial"/>
                <a:ea typeface="Arial"/>
              </a:rPr>
              <a:t>They judge their work better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846320"/>
            <a:ext cx="1060704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846320"/>
            <a:ext cx="64008" cy="8229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065776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F6F5E"/>
                </a:solidFill>
                <a:latin typeface="Arial"/>
                <a:ea typeface="Arial"/>
              </a:rPr>
              <a:t>H4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5084064"/>
            <a:ext cx="9052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1F2A44"/>
                </a:solidFill>
                <a:latin typeface="Arial"/>
                <a:ea typeface="Arial"/>
              </a:rPr>
              <a:t>Teachers onboard faster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7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C8622A"/>
                </a:solidFill>
                <a:latin typeface="Arial"/>
                <a:ea typeface="Arial"/>
              </a:rPr>
              <a:t>Hypotheses, not findings.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85415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Arial"/>
                <a:ea typeface="Arial"/>
              </a:rPr>
              <a:t>Small sample, short study.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34639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5409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Arial"/>
                <a:ea typeface="Arial"/>
              </a:rPr>
              <a:t>Scoring is subjective and unstable.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0332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2277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Arial"/>
                <a:ea typeface="Arial"/>
              </a:rPr>
              <a:t>A thin source library weakens the task.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3A6EA5"/>
                </a:solidFill>
                <a:latin typeface="Arial"/>
                <a:ea typeface="Arial"/>
              </a:rPr>
              <a:t>AI IN EDUCATION · RESEARCH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229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900" b="1" i="0">
                <a:solidFill>
                  <a:srgbClr val="1F2A44"/>
                </a:solidFill>
                <a:latin typeface="Arial"/>
                <a:ea typeface="Arial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664208"/>
            <a:ext cx="868680" cy="36576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85415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Arial"/>
                <a:ea typeface="Arial"/>
              </a:rPr>
              <a:t>Role reversal: the student plays the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34639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5409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Arial"/>
                <a:ea typeface="Arial"/>
              </a:rPr>
              <a:t>Two-agent debate: opposing accounts.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03320"/>
            <a:ext cx="106070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2277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B2430"/>
                </a:solidFill>
                <a:latin typeface="Arial"/>
                <a:ea typeface="Arial"/>
              </a:rPr>
              <a:t>A larger controlled study.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Arial"/>
                <a:ea typeface="Arial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74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C7D3E4"/>
                </a:solidFill>
                <a:latin typeface="Arial"/>
                <a:ea typeface="Arial"/>
              </a:rPr>
              <a:t>Thank you — questions welcome.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86"/>
                </a:solidFill>
                <a:latin typeface="Arial"/>
                <a:ea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