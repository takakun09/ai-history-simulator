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using AI</c:v>
                </c:pt>
              </c:strCache>
            </c:strRef>
          </c:tx>
          <c:spPr>
            <a:solidFill>
              <a:srgbClr val="3A6EA5"/>
            </a:solidFill>
          </c:spPr>
          <c:cat>
            <c:strRef>
              <c:f>Sheet1!$A$2:$A$3</c:f>
              <c:strCache>
                <c:ptCount val="2"/>
                <c:pt idx="0">
                  <c:v>May 2025</c:v>
                </c:pt>
                <c:pt idx="1">
                  <c:v>Dec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F6F5E"/>
            </a:solidFill>
          </c:spPr>
          <c:cat>
            <c:strRef>
              <c:f>Sheet1!$A$2:$A$4</c:f>
              <c:strCache>
                <c:ptCount val="3"/>
                <c:pt idx="0">
                  <c:v>Better explanations</c:v>
                </c:pt>
                <c:pt idx="1">
                  <c:v>Ideas</c:v>
                </c:pt>
                <c:pt idx="2">
                  <c:v>Facts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35</c:v>
                </c:pt>
                <c:pt idx="2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B6E0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FFFFF"/>
                </a:solidFill>
                <a:latin typeface="Arial"/>
                <a:ea typeface="Arial"/>
              </a:rPr>
              <a:t>When AI Gives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3E4"/>
                </a:solidFill>
                <a:latin typeface="Arial"/>
                <a:ea typeface="Arial"/>
              </a:rPr>
              <a:t>Training judgment with a historian who may be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10972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AEC4"/>
                </a:solidFill>
                <a:latin typeface="Arial"/>
                <a:ea typeface="Arial"/>
              </a:rPr>
              <a:t>[Team members]   ·   AI in Education   · 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Three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4027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305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Arial"/>
                <a:ea typeface="Arial"/>
              </a:rPr>
              <a:t>How do students learn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514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They ask AI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20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29183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82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Arial"/>
                <a:ea typeface="Arial"/>
              </a:rPr>
              <a:t>Can AI train thinking?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Or does it think for us?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79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79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4339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3367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Arial"/>
                <a:ea typeface="Arial"/>
              </a:rPr>
              <a:t>Does it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1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Can we trust the score?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A6EA5"/>
                </a:solidFill>
                <a:latin typeface="Arial"/>
                <a:ea typeface="Arial"/>
              </a:rPr>
              <a:t>The question is not whether AI can teach — but whether students still think.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AI for homework: 48% → 62%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057400"/>
          <a:ext cx="60350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7804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C8622A"/>
                </a:solidFill>
                <a:latin typeface="Arial"/>
                <a:ea typeface="Arial"/>
              </a:rPr>
              <a:t>+14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834639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in 7 months · 1,214 teens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74903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·  45% have used AI at school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206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·  85% of AI-using teens use it for schoolwork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How to read: among 1,214 youth aged 12–29, AI-for-homework use rose from 48% to 62% in seven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Arial"/>
              </a:rPr>
              <a:t>RAND, “More Students Use AI for Homework…” (2026-03-17, n=1,214) · HEPI, Student Generative AI Survey (2025-02) · Common Sense Media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But always for the same 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148840"/>
          <a:ext cx="69494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240279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56032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B2430"/>
                </a:solidFill>
                <a:latin typeface="Arial"/>
                <a:ea typeface="Arial"/>
              </a:rPr>
              <a:t>All three mean: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B2430"/>
                </a:solidFill>
                <a:latin typeface="Arial"/>
                <a:ea typeface="Arial"/>
              </a:rPr>
              <a:t>"let AI think for me."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79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How to read: the top three uses all mean “let AI produce something”, not “let AI check my judgement”.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Arial"/>
              </a:rPr>
              <a:t>RAND (2026-03-17). Uses: explanations 38%, brainstorming 35%, fact lookup 33%.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Concern is rising on both sides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3291840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Arial"/>
                <a:ea typeface="Arial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of students worry AI harms critical thinking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(54% earlier in 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291840" cy="64008"/>
          </a:xfrm>
          <a:prstGeom prst="rect">
            <a:avLst/>
          </a:prstGeom>
          <a:solidFill>
            <a:srgbClr val="C8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Arial"/>
                <a:ea typeface="Arial"/>
              </a:rPr>
              <a:t>43.2%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of teachers worried about student AI use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(+7.5 pp year on year)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3291840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Arial"/>
                <a:ea typeface="Arial"/>
              </a:rPr>
              <a:t>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of teachers say AI makes thinking harder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(2026 teacher poll)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How to read: three independent surveys point the same way — concern is rising among students and teachers.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Arial"/>
              </a:rPr>
              <a:t>RAND (2026-03) · National Literacy Trust (2025-08) · teacher poll reported by Central Florida Public Media (2026-06)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History's core skill is the easiest to outsource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AI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Student skips checking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1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Sourcing is skipped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Only conclusions remain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49039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A44"/>
                </a:solidFill>
                <a:latin typeface="Arial"/>
                <a:ea typeface="Arial"/>
              </a:rPr>
              <a:t>History is not "what happened" — it is "why believe it happened".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686"/>
                </a:solidFill>
                <a:latin typeface="Arial"/>
                <a:ea typeface="Arial"/>
              </a:rPr>
              <a:t>The smoother AI gets, the less reason to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Five ways AI is used in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912" y="20574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0574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</a:rPr>
              <a:t>Solves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4016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AI tutor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4688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Explains in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24688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1821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Essay grading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318211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Scores +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1821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Teacher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40480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8953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Question 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1" y="389534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Auto-made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389534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0857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Translation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460857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Live translate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460857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66944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3218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Role-play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7911" y="532180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Chat with figures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532180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Arial"/>
              </a:rPr>
              <a:t>Immersion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3A6EA5"/>
                </a:solidFill>
                <a:latin typeface="Arial"/>
                <a:ea typeface="Arial"/>
              </a:rPr>
              <a:t>All five shorten the distance to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The gap: AI as material to doubt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2057400"/>
            <a:ext cx="5852160" cy="320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2057400"/>
            <a:ext cx="2926080" cy="1600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3657600"/>
            <a:ext cx="2926080" cy="1600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057400"/>
            <a:ext cx="18288" cy="320040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0200" y="3657600"/>
            <a:ext cx="5852160" cy="18288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3675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AI: gives answers  ←→  is questioned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23317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AI tutor / grading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(mainstream)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331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Rare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39319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Historical chat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(mainstream)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858768"/>
            <a:ext cx="2523744" cy="119786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4041648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This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8600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How to read: x = the AI's role, y = the subject. Existing work sits on the left; we work in the bottom-right.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Arial"/>
              </a:rPr>
              <a:t>Indicative positioning, not an exhaustive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Our approach: an AI witness, not an 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Arial"/>
              </a:rPr>
              <a:t>The AI plays a historical actor with a stake — and can be wrong. Students check sources, then decide.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Push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Compare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3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Pick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5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5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Justify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Explain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82328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5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5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Score +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3A6EA5"/>
                </a:solidFill>
                <a:latin typeface="Arial"/>
                <a:ea typeface="Arial"/>
              </a:rPr>
              <a:t>One difference: the AI is not the answer — it is a source to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Four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a moment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with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Persona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grounded in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Arial"/>
              </a:rPr>
              <a:t>scores +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430"/>
                </a:solidFill>
                <a:latin typeface="Arial"/>
                <a:ea typeface="Arial"/>
              </a:rPr>
              <a:t>Pretrained model + prompts + a small source library. No training.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Arial"/>
                <a:ea typeface="Arial"/>
              </a:rPr>
              <a:t>[ screenshot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Student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Pick a figure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Check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Arial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Arial"/>
                <a:ea typeface="Arial"/>
              </a:rPr>
              <a:t>[ screenshot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Teacher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Generate the persona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Edit sources &amp;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Arial"/>
              </a:rPr>
              <a:t>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Arial"/>
                <a:ea typeface="Arial"/>
              </a:rPr>
              <a:t>[ screenshot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Five things we look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9397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Where from?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9397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In its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2608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3580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Corroboration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5409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Compare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3580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Argument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05409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8620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88620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9959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Empathy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14215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Arial"/>
              </a:rPr>
              <a:t>Their situation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Arial"/>
              </a:rPr>
              <a:t>0–3 · 15 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Scoring: run it twice, check agreement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t =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Pass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t =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Arial"/>
              </a:rPr>
              <a:t>low →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6616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7647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430"/>
                </a:solidFill>
                <a:latin typeface="Arial"/>
                <a:ea typeface="Arial"/>
              </a:rPr>
              <a:t>If the two passes disagree, we say 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User feedback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30552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Arial"/>
              </a:rPr>
              <a:t>“Now it asks me back, so I have to think.”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4027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Arial"/>
              </a:rPr>
              <a:t>Student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30552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Arial"/>
              </a:rPr>
              <a:t>“I found out AI's answer didn't match the book.”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59" y="224027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Arial"/>
              </a:rPr>
              <a:t>Student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154680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Arial"/>
              </a:rPr>
              <a:t>“I thought it was good. It got 2.”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6440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Arial"/>
              </a:rPr>
              <a:t>Student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90088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154680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Arial"/>
              </a:rPr>
              <a:t>“Can I use this in other subjects?”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59" y="326440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Arial"/>
              </a:rPr>
              <a:t>Student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14216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17880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Arial"/>
              </a:rPr>
              <a:t>“Writing the persona used to take hours.”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2885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Arial"/>
              </a:rPr>
              <a:t>Teacher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8622A"/>
                </a:solidFill>
                <a:latin typeface="Arial"/>
                <a:ea typeface="Arial"/>
              </a:rPr>
              <a:t>Illustrative only — to be replaced with real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How we code the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</a:rPr>
              <a:t>Typical 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4016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68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688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"Harder, but I'm more into 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1821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8211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"AI can be wrong"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40480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9534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Self-judgement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89534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"I thought it was good"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0857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Arial"/>
              </a:rPr>
              <a:t>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0857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Arial"/>
              </a:rPr>
              <a:t>"Other subjects?"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Four hypotheses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85415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Arial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0370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Arial"/>
                <a:ea typeface="Arial"/>
              </a:rPr>
              <a:t>Students think more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2608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4553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Arial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6382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Arial"/>
                <a:ea typeface="Arial"/>
              </a:rPr>
              <a:t>They stop trusting AI blindly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0565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Arial"/>
              </a:rP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2394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Arial"/>
                <a:ea typeface="Arial"/>
              </a:rPr>
              <a:t>They judge their work better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Arial"/>
              </a:rPr>
              <a:t>H4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8406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Arial"/>
                <a:ea typeface="Arial"/>
              </a:rPr>
              <a:t>Teachers onboard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79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8622A"/>
                </a:solidFill>
                <a:latin typeface="Arial"/>
                <a:ea typeface="Arial"/>
              </a:rPr>
              <a:t>Hypotheses, not findings.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5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Small sample, short study.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39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5409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Scoring is subjective and unstable.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227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A thin source library weakens the task.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5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Role reversal: the student plays the figure.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39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5409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Two-agent debate: opposing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227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Arial"/>
              </a:rPr>
              <a:t>A larger controlled study.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AI IN EDUCATION ·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Arial"/>
                <a:ea typeface="Arial"/>
              </a:rPr>
              <a:t>References and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RAND Corporation (2026-03-17). More Students Use AI for Homework and Believe It Harms Their Learning. n = 1,214, ages 12–29. rand.org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8775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HEPI (2025-02). Student Generative AI Survey 2025. 45% have used AI at school. hepi.ac.uk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95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0954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Common Sense Media (2025). Teens' generative-AI use: 85% of AI-using teens use it for schoolwork. commonsensemedia.org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31336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National Literacy Trust (2025-08). Young people and teachers' use of generative AI: 43.2% of teachers concerned (+7.5pp). literacytrust.org.uk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45312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CSBA Blog (2026-04). Students express mixed feelings on AI use for homework. blog.csba.org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74920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Central Florida Public Media (2026-06). Teacher poll: 54% say AI makes critical thinking harder.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967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Arial"/>
              </a:rP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9671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Arial"/>
                <a:ea typeface="Arial"/>
              </a:rPr>
              <a:t>RAND (2026-03). Student concern 54% → 67%; chatbot use 60% (ChatGPT 53%, Gemini 28%).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Arial"/>
              </a:rPr>
              <a:t>Retrieved 2026-10-28. Figures as reported; definitions of “using AI” vary across surveys (16%–85%).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D3E4"/>
                </a:solidFill>
                <a:latin typeface="Arial"/>
                <a:ea typeface="Arial"/>
              </a:rPr>
              <a:t>Thank you —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