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使用比例</c:v>
                </c:pt>
              </c:strCache>
            </c:strRef>
          </c:tx>
          <c:spPr>
            <a:solidFill>
              <a:srgbClr val="3A6EA5"/>
            </a:solidFill>
          </c:spPr>
          <c:cat>
            <c:strRef>
              <c:f>Sheet1!$A$2:$A$3</c:f>
              <c:strCache>
                <c:ptCount val="2"/>
                <c:pt idx="0">
                  <c:v>2025 年 5 月</c:v>
                </c:pt>
                <c:pt idx="1">
                  <c:v>2025 年 12 月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</c:v>
                </c:pt>
                <c:pt idx="1">
                  <c:v>62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6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</c:scaling>
        <c:delete val="0"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B2430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2F6F5E"/>
            </a:solidFill>
          </c:spPr>
          <c:cat>
            <c:strRef>
              <c:f>Sheet1!$A$2:$A$4</c:f>
              <c:strCache>
                <c:ptCount val="3"/>
                <c:pt idx="0">
                  <c:v>求解释</c:v>
                </c:pt>
                <c:pt idx="1">
                  <c:v>找想法</c:v>
                </c:pt>
                <c:pt idx="2">
                  <c:v>查事实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</c:v>
                </c:pt>
                <c:pt idx="1">
                  <c:v>35</c:v>
                </c:pt>
                <c:pt idx="2">
                  <c:v>33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5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B2430"/>
          </a:solidFill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FB6E0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FFFFFF"/>
                </a:solidFill>
                <a:latin typeface="PingFang SC"/>
                <a:ea typeface="PingFang SC"/>
              </a:rPr>
              <a:t>当 AI 直接给出答案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4612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7D3E4"/>
                </a:solidFill>
                <a:latin typeface="PingFang SC"/>
                <a:ea typeface="PingFang SC"/>
              </a:rPr>
              <a:t>用「会出错的历史人物」训练学生判断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10972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3891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FAEC4"/>
                </a:solidFill>
                <a:latin typeface="PingFang SC"/>
                <a:ea typeface="PingFang SC"/>
              </a:rPr>
              <a:t>[小组成员]   ·   AI in Education   · 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三个问题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965960"/>
            <a:ext cx="64008" cy="914400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240279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A6EA5"/>
                </a:solidFill>
                <a:latin typeface="PingFang SC"/>
                <a:ea typeface="PingFang SC"/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1305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2A44"/>
                </a:solidFill>
                <a:latin typeface="PingFang SC"/>
                <a:ea typeface="PingFang SC"/>
              </a:rPr>
              <a:t>学生现在怎么学？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5146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PingFang SC"/>
                <a:ea typeface="PingFang SC"/>
              </a:rPr>
              <a:t>先问 AI。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1752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017520"/>
            <a:ext cx="64008" cy="914400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3291839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A6EA5"/>
                </a:solidFill>
                <a:latin typeface="PingFang SC"/>
                <a:ea typeface="PingFang SC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182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2A44"/>
                </a:solidFill>
                <a:latin typeface="PingFang SC"/>
                <a:ea typeface="PingFang SC"/>
              </a:rPr>
              <a:t>AI 能训练思考吗？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PingFang SC"/>
                <a:ea typeface="PingFang SC"/>
              </a:rPr>
              <a:t>还是让它替我们思考？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69079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79"/>
            <a:ext cx="64008" cy="914400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343399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A6EA5"/>
                </a:solidFill>
                <a:latin typeface="PingFang SC"/>
                <a:ea typeface="PingFang SC"/>
              </a:rPr>
              <a:t>Q3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233671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2A44"/>
                </a:solidFill>
                <a:latin typeface="PingFang SC"/>
                <a:ea typeface="PingFang SC"/>
              </a:rPr>
              <a:t>怎么判断有没有效？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4617719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PingFang SC"/>
                <a:ea typeface="PingFang SC"/>
              </a:rPr>
              <a:t>分数可信吗？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2578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3A6EA5"/>
                </a:solidFill>
                <a:latin typeface="PingFang SC"/>
                <a:ea typeface="PingFang SC"/>
              </a:rPr>
              <a:t>我们关心的不是「AI 能不能教」，而是「学生还要不要想」。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用 AI 做作业：48% → 62%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2057400"/>
          <a:ext cx="603504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178040" y="2148840"/>
            <a:ext cx="42062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2286000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C8622A"/>
                </a:solidFill>
                <a:latin typeface="PingFang SC"/>
                <a:ea typeface="PingFang SC"/>
              </a:rPr>
              <a:t>+14 个百分点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834639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686"/>
                </a:solidFill>
                <a:latin typeface="PingFang SC"/>
                <a:ea typeface="PingFang SC"/>
              </a:rPr>
              <a:t>7 个月，1,214 名青少年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3749039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B2430"/>
                </a:solidFill>
                <a:latin typeface="PingFang SC"/>
                <a:ea typeface="PingFang SC"/>
              </a:rPr>
              <a:t>·  45% 在学校用过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206240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B2430"/>
                </a:solidFill>
                <a:latin typeface="PingFang SC"/>
                <a:ea typeface="PingFang SC"/>
              </a:rPr>
              <a:t>·  85% 的 AI 用户用它做作业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41908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686"/>
                </a:solidFill>
                <a:latin typeface="PingFang SC"/>
                <a:ea typeface="PingFang SC"/>
              </a:rPr>
              <a:t>Sources: RAND (2026-03, n=1,214), HEPI (2025-02), Common Sense Media (2025)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但用途只有一种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2148840"/>
          <a:ext cx="694944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001000" y="2240279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560320"/>
            <a:ext cx="2834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B2430"/>
                </a:solidFill>
                <a:latin typeface="PingFang SC"/>
                <a:ea typeface="PingFang SC"/>
              </a:rPr>
              <a:t>三种用途，都是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B2430"/>
                </a:solidFill>
                <a:latin typeface="PingFang SC"/>
                <a:ea typeface="PingFang SC"/>
              </a:rPr>
              <a:t>「让 AI 替我想」。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1908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686"/>
                </a:solidFill>
                <a:latin typeface="PingFang SC"/>
                <a:ea typeface="PingFang SC"/>
              </a:rPr>
              <a:t>Source: CSBA Blog citing a 2026 student survey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老师担心的不是用不用，而是还思不思考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32918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3291840" cy="64008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F2A44"/>
                </a:solidFill>
                <a:latin typeface="PingFang SC"/>
                <a:ea typeface="PingFang SC"/>
              </a:rPr>
              <a:t>54%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5468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B2430"/>
                </a:solidFill>
                <a:latin typeface="PingFang SC"/>
                <a:ea typeface="PingFang SC"/>
              </a:rPr>
              <a:t>老师说 AI 让思考变难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103120"/>
            <a:ext cx="32918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103120"/>
            <a:ext cx="3291840" cy="64008"/>
          </a:xfrm>
          <a:prstGeom prst="rect">
            <a:avLst/>
          </a:prstGeom>
          <a:solidFill>
            <a:srgbClr val="C86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42316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F2A44"/>
                </a:solidFill>
                <a:latin typeface="PingFang SC"/>
                <a:ea typeface="PingFang SC"/>
              </a:rPr>
              <a:t>43.2%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15468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B2430"/>
                </a:solidFill>
                <a:latin typeface="PingFang SC"/>
                <a:ea typeface="PingFang SC"/>
              </a:rPr>
              <a:t>老师担心学生用 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2103120"/>
            <a:ext cx="32918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2103120"/>
            <a:ext cx="3291840" cy="64008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42316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F2A44"/>
                </a:solidFill>
                <a:latin typeface="PingFang SC"/>
                <a:ea typeface="PingFang SC"/>
              </a:rPr>
              <a:t>66%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15468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B2430"/>
                </a:solidFill>
                <a:latin typeface="PingFang SC"/>
                <a:ea typeface="PingFang SC"/>
              </a:rPr>
              <a:t>英格兰中学老师担心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1908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686"/>
                </a:solidFill>
                <a:latin typeface="PingFang SC"/>
                <a:ea typeface="PingFang SC"/>
              </a:rPr>
              <a:t>Sources: teacher poll (2026-06), National Literacy Trust (2025-08), England survey (2026)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历史最核心的能力，最容易被代劳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23317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20574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1B2430"/>
                </a:solidFill>
                <a:latin typeface="PingFang SC"/>
                <a:ea typeface="PingFang SC"/>
              </a:rPr>
              <a:t>AI 给答案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6517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79" y="2286000"/>
            <a:ext cx="23317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39" y="2377440"/>
            <a:ext cx="20574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1B2430"/>
                </a:solidFill>
                <a:latin typeface="PingFang SC"/>
                <a:ea typeface="PingFang SC"/>
              </a:rPr>
              <a:t>学生跳过求证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26517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19" y="2286000"/>
            <a:ext cx="23317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79" y="2377440"/>
            <a:ext cx="20574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1B2430"/>
                </a:solidFill>
                <a:latin typeface="PingFang SC"/>
                <a:ea typeface="PingFang SC"/>
              </a:rPr>
              <a:t>史料判断被跳过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39" y="26517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5359" y="2286000"/>
            <a:ext cx="23317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19" y="2377440"/>
            <a:ext cx="20574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1B2430"/>
                </a:solidFill>
                <a:latin typeface="PingFang SC"/>
                <a:ea typeface="PingFang SC"/>
              </a:rPr>
              <a:t>只剩结论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749039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2A44"/>
                </a:solidFill>
                <a:latin typeface="PingFang SC"/>
                <a:ea typeface="PingFang SC"/>
              </a:rPr>
              <a:t>历史不是「发生了什么」，而是「凭什么相信它发生过」。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686"/>
                </a:solidFill>
                <a:latin typeface="PingFang SC"/>
                <a:ea typeface="PingFang SC"/>
              </a:rPr>
              <a:t>AI 越顺，学生越没理由查证。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现有 AI 教育的五种做法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057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PingFang SC"/>
                <a:ea typeface="PingFang SC"/>
              </a:rPr>
              <a:t>做法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67912" y="205740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PingFang SC"/>
                <a:ea typeface="PingFang SC"/>
              </a:rPr>
              <a:t>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1271" y="205740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PingFang SC"/>
                <a:ea typeface="PingFang SC"/>
              </a:rPr>
              <a:t>解决什么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414016"/>
            <a:ext cx="10607040" cy="65836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468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AI 答疑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1" y="246888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PingFang SC"/>
                <a:ea typeface="PingFang SC"/>
              </a:rPr>
              <a:t>对话讲解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1272" y="246888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B2430"/>
                </a:solidFill>
                <a:latin typeface="PingFang SC"/>
                <a:ea typeface="PingFang SC"/>
              </a:rPr>
              <a:t>听懂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18211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作文批改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67911" y="3182112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PingFang SC"/>
                <a:ea typeface="PingFang SC"/>
              </a:rPr>
              <a:t>打分给建议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2" y="3182112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B2430"/>
                </a:solidFill>
                <a:latin typeface="PingFang SC"/>
                <a:ea typeface="PingFang SC"/>
              </a:rPr>
              <a:t>减负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840480"/>
            <a:ext cx="10607040" cy="65836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9534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题库生成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911" y="389534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PingFang SC"/>
                <a:ea typeface="PingFang SC"/>
              </a:rPr>
              <a:t>自动出题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1272" y="389534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B2430"/>
                </a:solidFill>
                <a:latin typeface="PingFang SC"/>
                <a:ea typeface="PingFang SC"/>
              </a:rPr>
              <a:t>多练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460857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翻译陪练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7911" y="4608576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PingFang SC"/>
                <a:ea typeface="PingFang SC"/>
              </a:rPr>
              <a:t>即时翻译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272" y="4608576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B2430"/>
                </a:solidFill>
                <a:latin typeface="PingFang SC"/>
                <a:ea typeface="PingFang SC"/>
              </a:rPr>
              <a:t>跨语言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66944"/>
            <a:ext cx="10607040" cy="65836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32180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角色扮演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67911" y="5321808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PingFang SC"/>
                <a:ea typeface="PingFang SC"/>
              </a:rPr>
              <a:t>和人物聊天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91272" y="532180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B2430"/>
                </a:solidFill>
                <a:latin typeface="PingFang SC"/>
                <a:ea typeface="PingFang SC"/>
              </a:rPr>
              <a:t>沉浸感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3A6EA5"/>
                </a:solidFill>
                <a:latin typeface="PingFang SC"/>
                <a:ea typeface="PingFang SC"/>
              </a:rPr>
              <a:t>五种做法，都在缩短学生和答案的距离。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空白：把「AI 会错」当教材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2057400"/>
            <a:ext cx="5852160" cy="3200400"/>
          </a:xfrm>
          <a:prstGeom prst="rect">
            <a:avLst/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00200" y="2057400"/>
            <a:ext cx="2926080" cy="1600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00200" y="3657600"/>
            <a:ext cx="2926080" cy="1600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26280" y="2057400"/>
            <a:ext cx="18288" cy="320040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00200" y="3657600"/>
            <a:ext cx="5852160" cy="18288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5367528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PingFang SC"/>
                <a:ea typeface="PingFang SC"/>
              </a:rPr>
              <a:t>AI：给答案  ←→  被审视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PingFang SC"/>
                <a:ea typeface="PingFang SC"/>
              </a:rPr>
              <a:t>通用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7492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PingFang SC"/>
                <a:ea typeface="PingFang SC"/>
              </a:rPr>
              <a:t>历史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1368" y="2331720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B7686"/>
                </a:solidFill>
                <a:latin typeface="PingFang SC"/>
                <a:ea typeface="PingFang SC"/>
              </a:rPr>
              <a:t>AI 答疑 / 批改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B7686"/>
                </a:solidFill>
                <a:latin typeface="PingFang SC"/>
                <a:ea typeface="PingFang SC"/>
              </a:rPr>
              <a:t>（主流）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33172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686"/>
                </a:solidFill>
                <a:latin typeface="PingFang SC"/>
                <a:ea typeface="PingFang SC"/>
              </a:rPr>
              <a:t>少见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931920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B7686"/>
                </a:solidFill>
                <a:latin typeface="PingFang SC"/>
                <a:ea typeface="PingFang SC"/>
              </a:rPr>
              <a:t>历史人物聊天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B7686"/>
                </a:solidFill>
                <a:latin typeface="PingFang SC"/>
                <a:ea typeface="PingFang SC"/>
              </a:rPr>
              <a:t>（主流）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27448" y="3858768"/>
            <a:ext cx="2523744" cy="1197864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0328" y="4041648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ingFang SC"/>
                <a:ea typeface="PingFang SC"/>
              </a:rPr>
              <a:t>本项目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1908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686"/>
                </a:solidFill>
                <a:latin typeface="PingFang SC"/>
                <a:ea typeface="PingFang SC"/>
              </a:rPr>
              <a:t>Indicative positioning, not an exhaustive review.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我们的做法：让 AI 当证人，而不是答案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1B2430"/>
                </a:solidFill>
                <a:latin typeface="PingFang SC"/>
                <a:ea typeface="PingFang SC"/>
              </a:rPr>
              <a:t>AI 扮演有立场、会出错的历史人物。学生查史料，再做决定。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43200"/>
            <a:ext cx="1956816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1956816" cy="64008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907791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1F2A44"/>
                </a:solidFill>
                <a:latin typeface="PingFang SC"/>
                <a:ea typeface="PingFang SC"/>
              </a:rPr>
              <a:t>提问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291839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PingFang SC"/>
                <a:ea typeface="PingFang SC"/>
              </a:rPr>
              <a:t>追问依据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34056" y="32004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53512" y="2743200"/>
            <a:ext cx="1956816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3512" y="2743200"/>
            <a:ext cx="1956816" cy="64008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3240" y="2907791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1F2A44"/>
                </a:solidFill>
                <a:latin typeface="PingFang SC"/>
                <a:ea typeface="PingFang SC"/>
              </a:rPr>
              <a:t>查史料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291839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PingFang SC"/>
                <a:ea typeface="PingFang SC"/>
              </a:rPr>
              <a:t>对一对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32004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9783" y="2743200"/>
            <a:ext cx="1956816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9783" y="2743200"/>
            <a:ext cx="1956816" cy="64008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9512" y="2907791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1F2A44"/>
                </a:solidFill>
                <a:latin typeface="PingFang SC"/>
                <a:ea typeface="PingFang SC"/>
              </a:rPr>
              <a:t>做决定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9512" y="3291839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PingFang SC"/>
                <a:ea typeface="PingFang SC"/>
              </a:rPr>
              <a:t>选一个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2004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06055" y="2743200"/>
            <a:ext cx="1956816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06055" y="2743200"/>
            <a:ext cx="1956816" cy="64008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15783" y="2907791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1F2A44"/>
                </a:solidFill>
                <a:latin typeface="PingFang SC"/>
                <a:ea typeface="PingFang SC"/>
              </a:rPr>
              <a:t>写理由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5783" y="3291839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PingFang SC"/>
                <a:ea typeface="PingFang SC"/>
              </a:rPr>
              <a:t>讲清楚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32004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82328" y="2743200"/>
            <a:ext cx="1956816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82328" y="2743200"/>
            <a:ext cx="1956816" cy="64008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92055" y="2907791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1F2A44"/>
                </a:solidFill>
                <a:latin typeface="PingFang SC"/>
                <a:ea typeface="PingFang SC"/>
              </a:rPr>
              <a:t>看反馈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92055" y="3291839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PingFang SC"/>
                <a:ea typeface="PingFang SC"/>
              </a:rPr>
              <a:t>评分 + 画像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062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3A6EA5"/>
                </a:solidFill>
                <a:latin typeface="PingFang SC"/>
                <a:ea typeface="PingFang SC"/>
              </a:rPr>
              <a:t>区别只有一句：AI 不是答案，是需要被检验的信源。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四个模块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57400"/>
            <a:ext cx="2487168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057400"/>
            <a:ext cx="2487168" cy="64008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25856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2A44"/>
                </a:solidFill>
                <a:latin typeface="PingFang SC"/>
                <a:ea typeface="PingFang SC"/>
              </a:rPr>
              <a:t>场景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679191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686"/>
                </a:solidFill>
                <a:latin typeface="PingFang SC"/>
                <a:ea typeface="PingFang SC"/>
              </a:rPr>
              <a:t>历史时刻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2057400"/>
            <a:ext cx="2487168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2057400"/>
            <a:ext cx="2487168" cy="64008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225856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2A44"/>
                </a:solidFill>
                <a:latin typeface="PingFang SC"/>
                <a:ea typeface="PingFang SC"/>
              </a:rPr>
              <a:t>史料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679191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686"/>
                </a:solidFill>
                <a:latin typeface="PingFang SC"/>
                <a:ea typeface="PingFang SC"/>
              </a:rPr>
              <a:t>带出处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057400"/>
            <a:ext cx="2487168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7064" y="2057400"/>
            <a:ext cx="2487168" cy="64008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225856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2A44"/>
                </a:solidFill>
                <a:latin typeface="PingFang SC"/>
                <a:ea typeface="PingFang SC"/>
              </a:rPr>
              <a:t>人物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1" y="2679191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686"/>
                </a:solidFill>
                <a:latin typeface="PingFang SC"/>
                <a:ea typeface="PingFang SC"/>
              </a:rPr>
              <a:t>按史料说话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2057400"/>
            <a:ext cx="2487168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1976" y="2057400"/>
            <a:ext cx="2487168" cy="64008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53144" y="225856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2A44"/>
                </a:solidFill>
                <a:latin typeface="PingFang SC"/>
                <a:ea typeface="PingFang SC"/>
              </a:rPr>
              <a:t>评估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679191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686"/>
                </a:solidFill>
                <a:latin typeface="PingFang SC"/>
                <a:ea typeface="PingFang SC"/>
              </a:rPr>
              <a:t>评分 + 分析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5661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430"/>
                </a:solidFill>
                <a:latin typeface="PingFang SC"/>
                <a:ea typeface="PingFang SC"/>
              </a:rPr>
              <a:t>现成模型 + 提示词 + 小史料库。不训练模型。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25196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6"/>
                </a:solidFill>
                <a:latin typeface="PingFang SC"/>
                <a:ea typeface="PingFang SC"/>
              </a:rPr>
              <a:t>[ screenshot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学生四步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48716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3A6EA5"/>
                </a:solidFill>
                <a:latin typeface="PingFang SC"/>
                <a:ea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752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F2A44"/>
                </a:solidFill>
                <a:latin typeface="PingFang SC"/>
                <a:ea typeface="PingFang SC"/>
              </a:rPr>
              <a:t>选人物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2148840"/>
            <a:ext cx="248716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30752" y="233172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3A6EA5"/>
                </a:solidFill>
                <a:latin typeface="PingFang SC"/>
                <a:ea typeface="PingFang S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0752" y="301752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F2A44"/>
                </a:solidFill>
                <a:latin typeface="PingFang SC"/>
                <a:ea typeface="PingFang SC"/>
              </a:rPr>
              <a:t>追问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148840"/>
            <a:ext cx="248716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233172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3A6EA5"/>
                </a:solidFill>
                <a:latin typeface="PingFang SC"/>
                <a:ea typeface="PingFang S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301752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F2A44"/>
                </a:solidFill>
                <a:latin typeface="PingFang SC"/>
                <a:ea typeface="PingFang SC"/>
              </a:rPr>
              <a:t>查史料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2148840"/>
            <a:ext cx="248716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0576" y="233172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3A6EA5"/>
                </a:solidFill>
                <a:latin typeface="PingFang SC"/>
                <a:ea typeface="PingFang S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0576" y="301752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F2A44"/>
                </a:solidFill>
                <a:latin typeface="PingFang SC"/>
                <a:ea typeface="PingFang SC"/>
              </a:rPr>
              <a:t>做决定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25196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6"/>
                </a:solidFill>
                <a:latin typeface="PingFang SC"/>
                <a:ea typeface="PingFang SC"/>
              </a:rPr>
              <a:t>[ screenshot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老师三步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F6F5E"/>
                </a:solidFill>
                <a:latin typeface="PingFang SC"/>
                <a:ea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39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F2A44"/>
                </a:solidFill>
                <a:latin typeface="PingFang SC"/>
                <a:ea typeface="PingFang SC"/>
              </a:rPr>
              <a:t>生成人设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9456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F6F5E"/>
                </a:solidFill>
                <a:latin typeface="PingFang SC"/>
                <a:ea typeface="PingFang S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063239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F2A44"/>
                </a:solidFill>
                <a:latin typeface="PingFang SC"/>
                <a:ea typeface="PingFang SC"/>
              </a:rPr>
              <a:t>改史料与抉择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19456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37744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F6F5E"/>
                </a:solidFill>
                <a:latin typeface="PingFang SC"/>
                <a:ea typeface="PingFang S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063239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F2A44"/>
                </a:solidFill>
                <a:latin typeface="PingFang SC"/>
                <a:ea typeface="PingFang SC"/>
              </a:rPr>
              <a:t>发布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8056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6"/>
                </a:solidFill>
                <a:latin typeface="PingFang SC"/>
                <a:ea typeface="PingFang SC"/>
              </a:rPr>
              <a:t>[ screenshot 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看五个方面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12064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965960"/>
            <a:ext cx="54864" cy="804672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07568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溯源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093976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686"/>
                </a:solidFill>
                <a:latin typeface="PingFang SC"/>
                <a:ea typeface="PingFang SC"/>
              </a:rPr>
              <a:t>问来源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12064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965960"/>
            <a:ext cx="54864" cy="804672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207568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语境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2093976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686"/>
                </a:solidFill>
                <a:latin typeface="PingFang SC"/>
                <a:ea typeface="PingFang SC"/>
              </a:rPr>
              <a:t>放回当时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926080"/>
            <a:ext cx="512064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2926080"/>
            <a:ext cx="54864" cy="804672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303580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交叉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054096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686"/>
                </a:solidFill>
                <a:latin typeface="PingFang SC"/>
                <a:ea typeface="PingFang SC"/>
              </a:rPr>
              <a:t>比多份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926080"/>
            <a:ext cx="512064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926080"/>
            <a:ext cx="54864" cy="804672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303580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论证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054096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686"/>
                </a:solidFill>
                <a:latin typeface="PingFang SC"/>
                <a:ea typeface="PingFang SC"/>
              </a:rPr>
              <a:t>有证据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886200"/>
            <a:ext cx="512064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886200"/>
            <a:ext cx="54864" cy="804672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399592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共情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4014215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686"/>
                </a:solidFill>
                <a:latin typeface="PingFang SC"/>
                <a:ea typeface="PingFang SC"/>
              </a:rPr>
              <a:t>理解处境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2062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B2430"/>
                </a:solidFill>
                <a:latin typeface="PingFang SC"/>
                <a:ea typeface="PingFang SC"/>
              </a:rPr>
              <a:t>0–3 · 15 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评分：打两次，看是否一致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4231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29514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第一次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6090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PingFang SC"/>
                <a:ea typeface="PingFang SC"/>
              </a:rPr>
              <a:t>t = 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53288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148840"/>
            <a:ext cx="24231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229514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第二次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266090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PingFang SC"/>
                <a:ea typeface="PingFang SC"/>
              </a:rPr>
              <a:t>t = 0.5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253288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148840"/>
            <a:ext cx="24231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229514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比较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66090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PingFang SC"/>
                <a:ea typeface="PingFang SC"/>
              </a:rPr>
              <a:t>差多少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53288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0" y="2148840"/>
            <a:ext cx="24231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15984" y="229514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标记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66090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PingFang SC"/>
                <a:ea typeface="PingFang SC"/>
              </a:rPr>
              <a:t>不一致 → 人工看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566160"/>
            <a:ext cx="10607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776472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430"/>
                </a:solidFill>
                <a:latin typeface="PingFang SC"/>
                <a:ea typeface="PingFang SC"/>
              </a:rPr>
              <a:t>不一致就标出来，不假装可信。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用户反馈（虚拟示例）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1206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130552"/>
            <a:ext cx="38404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B2430"/>
                </a:solidFill>
                <a:latin typeface="PingFang SC"/>
                <a:ea typeface="PingFang SC"/>
              </a:rPr>
              <a:t>「现在它会反问我，我得自己想。」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9" y="22402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6B7686"/>
                </a:solidFill>
                <a:latin typeface="PingFang SC"/>
                <a:ea typeface="PingFang SC"/>
              </a:rPr>
              <a:t>学生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65960"/>
            <a:ext cx="51206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2130552"/>
            <a:ext cx="38404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B2430"/>
                </a:solidFill>
                <a:latin typeface="PingFang SC"/>
                <a:ea typeface="PingFang SC"/>
              </a:rPr>
              <a:t>「原来 AI 说的和课本不一样。」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5559" y="22402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6B7686"/>
                </a:solidFill>
                <a:latin typeface="PingFang SC"/>
                <a:ea typeface="PingFang SC"/>
              </a:rPr>
              <a:t>学生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990088"/>
            <a:ext cx="51206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154680"/>
            <a:ext cx="38404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B2430"/>
                </a:solidFill>
                <a:latin typeface="PingFang SC"/>
                <a:ea typeface="PingFang SC"/>
              </a:rPr>
              <a:t>「我以为写得挺好，结果只有 2 分。」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2644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6B7686"/>
                </a:solidFill>
                <a:latin typeface="PingFang SC"/>
                <a:ea typeface="PingFang SC"/>
              </a:rPr>
              <a:t>学生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990088"/>
            <a:ext cx="51206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154680"/>
            <a:ext cx="38404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B2430"/>
                </a:solidFill>
                <a:latin typeface="PingFang SC"/>
                <a:ea typeface="PingFang SC"/>
              </a:rPr>
              <a:t>「能用在别的科目吗？」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5559" y="32644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6B7686"/>
                </a:solidFill>
                <a:latin typeface="PingFang SC"/>
                <a:ea typeface="PingFang SC"/>
              </a:rPr>
              <a:t>学生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014216"/>
            <a:ext cx="106070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4178808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B2430"/>
                </a:solidFill>
                <a:latin typeface="PingFang SC"/>
                <a:ea typeface="PingFang SC"/>
              </a:rPr>
              <a:t>「以前写人设最花时间，现在点一下就有。」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4288536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6B7686"/>
                </a:solidFill>
                <a:latin typeface="PingFang SC"/>
                <a:ea typeface="PingFang SC"/>
              </a:rPr>
              <a:t>教师 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12064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C8622A"/>
                </a:solidFill>
                <a:latin typeface="PingFang SC"/>
                <a:ea typeface="PingFang SC"/>
              </a:rPr>
              <a:t>以上为虚拟示例，实测后替换。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反馈怎么归类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0574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PingFang SC"/>
                <a:ea typeface="PingFang SC"/>
              </a:rPr>
              <a:t>类别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205740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PingFang SC"/>
                <a:ea typeface="PingFang SC"/>
              </a:rPr>
              <a:t>典型说法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414016"/>
            <a:ext cx="10607040" cy="65836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4688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累不累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24688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PingFang SC"/>
                <a:ea typeface="PingFang SC"/>
              </a:rPr>
              <a:t>「更累，但更投入」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18211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信不信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182112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PingFang SC"/>
                <a:ea typeface="PingFang SC"/>
              </a:rPr>
              <a:t>「AI 也会错」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840480"/>
            <a:ext cx="10607040" cy="65836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89534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准不准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3895344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PingFang SC"/>
                <a:ea typeface="PingFang SC"/>
              </a:rPr>
              <a:t>「我以为我写得挺好」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460857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PingFang SC"/>
                <a:ea typeface="PingFang SC"/>
              </a:rPr>
              <a:t>能不能迁移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4608576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PingFang SC"/>
                <a:ea typeface="PingFang SC"/>
              </a:rPr>
              <a:t>「能用在别的科目吗」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四条待验证的猜想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106070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965960"/>
            <a:ext cx="64008" cy="82296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185415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F6F5E"/>
                </a:solidFill>
                <a:latin typeface="PingFang SC"/>
                <a:ea typeface="PingFang SC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203704"/>
            <a:ext cx="9052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F2A44"/>
                </a:solidFill>
                <a:latin typeface="PingFang SC"/>
                <a:ea typeface="PingFang SC"/>
              </a:rPr>
              <a:t>学生想得更多了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26080"/>
            <a:ext cx="106070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64008" cy="82296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145536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F6F5E"/>
                </a:solidFill>
                <a:latin typeface="PingFang SC"/>
                <a:ea typeface="PingFang SC"/>
              </a:rPr>
              <a:t>H2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163824"/>
            <a:ext cx="9052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F2A44"/>
                </a:solidFill>
                <a:latin typeface="PingFang SC"/>
                <a:ea typeface="PingFang SC"/>
              </a:rPr>
              <a:t>不再盲信 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886200"/>
            <a:ext cx="106070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886200"/>
            <a:ext cx="64008" cy="82296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105656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F6F5E"/>
                </a:solidFill>
                <a:latin typeface="PingFang SC"/>
                <a:ea typeface="PingFang SC"/>
              </a:rPr>
              <a:t>H3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4123944"/>
            <a:ext cx="9052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F2A44"/>
                </a:solidFill>
                <a:latin typeface="PingFang SC"/>
                <a:ea typeface="PingFang SC"/>
              </a:rPr>
              <a:t>更会评价自己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846320"/>
            <a:ext cx="106070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4846320"/>
            <a:ext cx="64008" cy="82296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065776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F6F5E"/>
                </a:solidFill>
                <a:latin typeface="PingFang SC"/>
                <a:ea typeface="PingFang SC"/>
              </a:rPr>
              <a:t>H4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084064"/>
            <a:ext cx="9052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F2A44"/>
                </a:solidFill>
                <a:latin typeface="PingFang SC"/>
                <a:ea typeface="PingFang SC"/>
              </a:rPr>
              <a:t>老师上手更快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7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C8622A"/>
                </a:solidFill>
                <a:latin typeface="PingFang SC"/>
                <a:ea typeface="PingFang SC"/>
              </a:rPr>
              <a:t>这是猜想，不是结论。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局限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106070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85415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B2430"/>
                </a:solidFill>
                <a:latin typeface="PingFang SC"/>
                <a:ea typeface="PingFang SC"/>
              </a:rPr>
              <a:t>样本小，时间短。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34639"/>
            <a:ext cx="106070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054096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B2430"/>
                </a:solidFill>
                <a:latin typeface="PingFang SC"/>
                <a:ea typeface="PingFang SC"/>
              </a:rPr>
              <a:t>打分主观，AI 评分会飘。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03320"/>
            <a:ext cx="106070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922776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B2430"/>
                </a:solidFill>
                <a:latin typeface="PingFang SC"/>
                <a:ea typeface="PingFang SC"/>
              </a:rPr>
              <a:t>史料库薄，练习就弱。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PingFang SC"/>
                <a:ea typeface="PingFang SC"/>
              </a:rPr>
              <a:t>AI 教育 · 研究报告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PingFang SC"/>
                <a:ea typeface="PingFang SC"/>
              </a:rPr>
              <a:t>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106070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85415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B2430"/>
                </a:solidFill>
                <a:latin typeface="PingFang SC"/>
                <a:ea typeface="PingFang SC"/>
              </a:rPr>
              <a:t>角色互换：学生演人物，AI 追问。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34639"/>
            <a:ext cx="106070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054096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B2430"/>
                </a:solidFill>
                <a:latin typeface="PingFang SC"/>
                <a:ea typeface="PingFang SC"/>
              </a:rPr>
              <a:t>双人对质：两个立场相反的人物。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03320"/>
            <a:ext cx="106070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922776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B2430"/>
                </a:solidFill>
                <a:latin typeface="PingFang SC"/>
                <a:ea typeface="PingFang SC"/>
              </a:rPr>
              <a:t>更大规模对照实验。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PingFang SC"/>
                <a:ea typeface="PingFang SC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74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C7D3E4"/>
                </a:solidFill>
                <a:latin typeface="PingFang SC"/>
                <a:ea typeface="PingFang SC"/>
              </a:rPr>
              <a:t>谢谢，欢迎提问。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PingFang SC"/>
                <a:ea typeface="PingFang SC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