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使用比例</c:v>
                </c:pt>
              </c:strCache>
            </c:strRef>
          </c:tx>
          <c:spPr>
            <a:solidFill>
              <a:srgbClr val="3A6EA5"/>
            </a:solidFill>
          </c:spPr>
          <c:cat>
            <c:strRef>
              <c:f>Sheet1!$A$2:$A$3</c:f>
              <c:strCache>
                <c:ptCount val="2"/>
                <c:pt idx="0">
                  <c:v>2025 年 5 月</c:v>
                </c:pt>
                <c:pt idx="1">
                  <c:v>2025 年 12 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F6F5E"/>
            </a:solidFill>
          </c:spPr>
          <c:cat>
            <c:strRef>
              <c:f>Sheet1!$A$2:$A$4</c:f>
              <c:strCache>
                <c:ptCount val="3"/>
                <c:pt idx="0">
                  <c:v>求解释</c:v>
                </c:pt>
                <c:pt idx="1">
                  <c:v>找想法</c:v>
                </c:pt>
                <c:pt idx="2">
                  <c:v>查事实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35</c:v>
                </c:pt>
                <c:pt idx="2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5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B243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B6E0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FFFFF"/>
                </a:solidFill>
                <a:latin typeface="PingFang SC"/>
                <a:ea typeface="PingFang SC"/>
              </a:rPr>
              <a:t>当 AI 直接给出答案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3E4"/>
                </a:solidFill>
                <a:latin typeface="PingFang SC"/>
                <a:ea typeface="PingFang SC"/>
              </a:rPr>
              <a:t>用「会出错的历史人物」训练学生判断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10972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AEC4"/>
                </a:solidFill>
                <a:latin typeface="PingFang SC"/>
                <a:ea typeface="PingFang SC"/>
              </a:rPr>
              <a:t>[小组成员]   ·   AI in Education   · 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三个问题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4027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PingFang SC"/>
                <a:ea typeface="PingFang SC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305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PingFang SC"/>
                <a:ea typeface="PingFang SC"/>
              </a:rPr>
              <a:t>学生现在怎么学？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514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先问 AI。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20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29183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PingFang SC"/>
                <a:ea typeface="PingFang SC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18211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PingFang SC"/>
                <a:ea typeface="PingFang SC"/>
              </a:rPr>
              <a:t>AI 能训练思考吗？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还是让它替我们思考？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79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79"/>
            <a:ext cx="64008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43399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A6EA5"/>
                </a:solidFill>
                <a:latin typeface="PingFang SC"/>
                <a:ea typeface="PingFang SC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3367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44"/>
                </a:solidFill>
                <a:latin typeface="PingFang SC"/>
                <a:ea typeface="PingFang SC"/>
              </a:rPr>
              <a:t>怎么判断有没有效？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1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分数可信吗？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A6EA5"/>
                </a:solidFill>
                <a:latin typeface="PingFang SC"/>
                <a:ea typeface="PingFang SC"/>
              </a:rPr>
              <a:t>我们关心的不是「AI 能不能教」，而是「学生还要不要想」。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用 AI 做作业：48% → 62%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057400"/>
          <a:ext cx="60350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7804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C8622A"/>
                </a:solidFill>
                <a:latin typeface="PingFang SC"/>
                <a:ea typeface="PingFang SC"/>
              </a:rPr>
              <a:t>+14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834639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7 个月，1,214 名青少年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74903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·  45% 在学校用过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206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·  85% 的 AI 用户用它做作业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怎么读：同一批 12–29 岁青少年（n=1,214）在 7 个月内，用 AI 做作业的比例从 48% 升到 62%。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PingFang SC"/>
                <a:ea typeface="PingFang SC"/>
              </a:rPr>
              <a:t>RAND, “More Students Use AI for Homework…” (2026-03-17, n=1,214) · HEPI, Student Generative AI Survey (2025-02) · Common Sense Media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但用途只有一种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148840"/>
          <a:ext cx="69494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240279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56032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B2430"/>
                </a:solidFill>
                <a:latin typeface="PingFang SC"/>
                <a:ea typeface="PingFang SC"/>
              </a:rPr>
              <a:t>三种用途，都是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B2430"/>
                </a:solidFill>
                <a:latin typeface="PingFang SC"/>
                <a:ea typeface="PingFang SC"/>
              </a:rPr>
              <a:t>「让 AI 替我想」。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79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怎么读：三种高频用途都是「让 AI 产出内容」，而不是「让 AI 检验我的判断」。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PingFang SC"/>
                <a:ea typeface="PingFang SC"/>
              </a:rPr>
              <a:t>RAND (2026-03-17). Uses: explanations 38%, brainstorming 35%, fact lookup 33%.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担忧在两端同时上升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3291840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PingFang SC"/>
                <a:ea typeface="PingFang SC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学生担心 AI 损害批判性思维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（2025 年初为 54%）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291840" cy="64008"/>
          </a:xfrm>
          <a:prstGeom prst="rect">
            <a:avLst/>
          </a:prstGeom>
          <a:solidFill>
            <a:srgbClr val="C8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PingFang SC"/>
                <a:ea typeface="PingFang SC"/>
              </a:rPr>
              <a:t>43.2%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老师担心学生用生成式 AI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（同比 +7.5pp）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3291840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F2A44"/>
                </a:solidFill>
                <a:latin typeface="PingFang SC"/>
                <a:ea typeface="PingFang SC"/>
              </a:rPr>
              <a:t>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54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老师认为 AI 让思考更难学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（2026 教师民调）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怎么读：三项独立调查从不同角度指向同一件事——学生和教师的担忧都在上升。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PingFang SC"/>
                <a:ea typeface="PingFang SC"/>
              </a:rPr>
              <a:t>RAND (2026-03) · National Literacy Trust (2025-08) · teacher poll reported by Central Florida Public Media (2026-06)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历史最核心的能力，最容易被代劳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AI 给答案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学生跳过求证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1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史料判断被跳过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51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228600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19" y="2377440"/>
            <a:ext cx="2057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只剩结论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49039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2A44"/>
                </a:solidFill>
                <a:latin typeface="PingFang SC"/>
                <a:ea typeface="PingFang SC"/>
              </a:rPr>
              <a:t>历史不是「发生了什么」，而是「凭什么相信它发生过」。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686"/>
                </a:solidFill>
                <a:latin typeface="PingFang SC"/>
                <a:ea typeface="PingFang SC"/>
              </a:rPr>
              <a:t>AI 越顺，学生越没理由查证。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现有 AI 教育的五种做法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912" y="20574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0574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解决什么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4016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AI 答疑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4688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对话讲解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24688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听懂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1821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作文批改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318211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打分给建议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1821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减负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40480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8953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题库生成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1" y="389534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自动出题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389534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多练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0857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翻译陪练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460857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即时翻译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460857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跨语言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66944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3218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角色扮演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7911" y="532180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和人物聊天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532180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430"/>
                </a:solidFill>
                <a:latin typeface="PingFang SC"/>
                <a:ea typeface="PingFang SC"/>
              </a:rPr>
              <a:t>沉浸感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3A6EA5"/>
                </a:solidFill>
                <a:latin typeface="PingFang SC"/>
                <a:ea typeface="PingFang SC"/>
              </a:rPr>
              <a:t>五种做法，都在缩短学生和答案的距离。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空白：把「AI 会错」当教材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2057400"/>
            <a:ext cx="5852160" cy="320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2057400"/>
            <a:ext cx="2926080" cy="1600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3657600"/>
            <a:ext cx="2926080" cy="1600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057400"/>
            <a:ext cx="18288" cy="320040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0200" y="3657600"/>
            <a:ext cx="5852160" cy="18288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3675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AI：给答案  ←→  被审视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通用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历史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23317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AI 答疑 / 批改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（主流）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3317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少见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39319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历史人物聊天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（主流）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858768"/>
            <a:ext cx="2523744" cy="1197864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4041648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本项目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8600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怎么读：横轴是 AI 的角色，纵轴是学科。现有工作集中在左半边，我们做右下角。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PingFang SC"/>
                <a:ea typeface="PingFang SC"/>
              </a:rPr>
              <a:t>Indicative positioning, not an exhaustive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我们的做法：让 AI 当证人，而不是答案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430"/>
                </a:solidFill>
                <a:latin typeface="PingFang SC"/>
                <a:ea typeface="PingFang SC"/>
              </a:rPr>
              <a:t>AI 扮演有立场、会出错的历史人物。学生查史料，再做决定。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提问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追问依据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查史料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对一对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3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做决定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选一个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6055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5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写理由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讲清楚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2004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2743200"/>
            <a:ext cx="195681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82328" y="2743200"/>
            <a:ext cx="1956816" cy="64008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5" y="2907791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看反馈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5" y="32918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评分 + 画像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3A6EA5"/>
                </a:solidFill>
                <a:latin typeface="PingFang SC"/>
                <a:ea typeface="PingFang SC"/>
              </a:rPr>
              <a:t>区别只有一句：AI 不是答案，是需要被检验的信源。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四个模块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历史时刻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史料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带出处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人物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按史料说话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05740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057400"/>
            <a:ext cx="2487168" cy="6400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2585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679191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686"/>
                </a:solidFill>
                <a:latin typeface="PingFang SC"/>
                <a:ea typeface="PingFang SC"/>
              </a:rPr>
              <a:t>评分 + 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430"/>
                </a:solidFill>
                <a:latin typeface="PingFang SC"/>
                <a:ea typeface="PingFang SC"/>
              </a:rPr>
              <a:t>现成模型 + 提示词 + 小史料库。不训练模型。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PingFang SC"/>
                <a:ea typeface="PingFang SC"/>
              </a:rPr>
              <a:t>[ screenshot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学生四步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选人物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追问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查史料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2148840"/>
            <a:ext cx="24871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6EA5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0175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F2A44"/>
                </a:solidFill>
                <a:latin typeface="PingFang SC"/>
                <a:ea typeface="PingFang SC"/>
              </a:rPr>
              <a:t>做决定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PingFang SC"/>
                <a:ea typeface="PingFang SC"/>
              </a:rPr>
              <a:t>[ screenshot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老师三步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生成人设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改史料与抉择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94560"/>
            <a:ext cx="3291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F6F5E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06323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A44"/>
                </a:solidFill>
                <a:latin typeface="PingFang SC"/>
                <a:ea typeface="PingFang SC"/>
              </a:rPr>
              <a:t>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6"/>
                </a:solidFill>
                <a:latin typeface="PingFang SC"/>
                <a:ea typeface="PingFang SC"/>
              </a:rPr>
              <a:t>[ screenshot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看五个方面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9397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问来源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语境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9397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放回当时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2608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3580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交叉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5409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比多份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03580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05409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有证据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86200"/>
            <a:ext cx="51206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886200"/>
            <a:ext cx="54864" cy="804672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9959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共情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14215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686"/>
                </a:solidFill>
                <a:latin typeface="PingFang SC"/>
                <a:ea typeface="PingFang SC"/>
              </a:rPr>
              <a:t>理解处境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430"/>
                </a:solidFill>
                <a:latin typeface="PingFang SC"/>
                <a:ea typeface="PingFang SC"/>
              </a:rPr>
              <a:t>0–3 · 15 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评分：打两次，看是否一致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第一次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t =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第二次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t =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比较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差多少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32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A6EA5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4884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229514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标记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6609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686"/>
                </a:solidFill>
                <a:latin typeface="PingFang SC"/>
                <a:ea typeface="PingFang SC"/>
              </a:rPr>
              <a:t>不一致 → 人工看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6616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7647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430"/>
                </a:solidFill>
                <a:latin typeface="PingFang SC"/>
                <a:ea typeface="PingFang SC"/>
              </a:rPr>
              <a:t>不一致就标出来，不假装可信。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用户反馈（虚拟示例）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130552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PingFang SC"/>
                <a:ea typeface="PingFang SC"/>
              </a:rPr>
              <a:t>「现在它会反问我，我得自己想。」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4027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PingFang SC"/>
                <a:ea typeface="PingFang SC"/>
              </a:rPr>
              <a:t>学生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30552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PingFang SC"/>
                <a:ea typeface="PingFang SC"/>
              </a:rPr>
              <a:t>「原来 AI 说的和课本不一样。」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59" y="224027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PingFang SC"/>
                <a:ea typeface="PingFang SC"/>
              </a:rPr>
              <a:t>学生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154680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PingFang SC"/>
                <a:ea typeface="PingFang SC"/>
              </a:rPr>
              <a:t>「我以为写得挺好，结果只有 2 分。」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6440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PingFang SC"/>
                <a:ea typeface="PingFang SC"/>
              </a:rPr>
              <a:t>学生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90088"/>
            <a:ext cx="51206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154680"/>
            <a:ext cx="3840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PingFang SC"/>
                <a:ea typeface="PingFang SC"/>
              </a:rPr>
              <a:t>「能用在别的科目吗？」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59" y="3264408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PingFang SC"/>
                <a:ea typeface="PingFang SC"/>
              </a:rPr>
              <a:t>学生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14216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17880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B2430"/>
                </a:solidFill>
                <a:latin typeface="PingFang SC"/>
                <a:ea typeface="PingFang SC"/>
              </a:rPr>
              <a:t>「以前写人设最花时间，现在点一下就有。」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2885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686"/>
                </a:solidFill>
                <a:latin typeface="PingFang SC"/>
                <a:ea typeface="PingFang SC"/>
              </a:rPr>
              <a:t>教师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8622A"/>
                </a:solidFill>
                <a:latin typeface="PingFang SC"/>
                <a:ea typeface="PingFang SC"/>
              </a:rPr>
              <a:t>以上为虚拟示例，实测后替换。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反馈怎么归类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PingFang SC"/>
                <a:ea typeface="PingFang SC"/>
              </a:rPr>
              <a:t>典型说法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4016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468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累不累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688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「更累，但更投入」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1821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信不信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8211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「AI 也会错」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40480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9534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准不准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89534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「我以为我写得挺好」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0857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44"/>
                </a:solidFill>
                <a:latin typeface="PingFang SC"/>
                <a:ea typeface="PingFang SC"/>
              </a:rPr>
              <a:t>能不能迁移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0857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PingFang SC"/>
                <a:ea typeface="PingFang SC"/>
              </a:rPr>
              <a:t>「能用在别的科目吗」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四条待验证的猜想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85415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PingFang SC"/>
                <a:ea typeface="PingFang SC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0370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PingFang SC"/>
                <a:ea typeface="PingFang SC"/>
              </a:rPr>
              <a:t>学生想得更多了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92608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4553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PingFang SC"/>
                <a:ea typeface="PingFang SC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16382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PingFang SC"/>
                <a:ea typeface="PingFang SC"/>
              </a:rPr>
              <a:t>不再盲信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0565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PingFang SC"/>
                <a:ea typeface="PingFang SC"/>
              </a:rP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2394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PingFang SC"/>
                <a:ea typeface="PingFang SC"/>
              </a:rPr>
              <a:t>更会评价自己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10607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6320"/>
            <a:ext cx="64008" cy="8229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F6F5E"/>
                </a:solidFill>
                <a:latin typeface="PingFang SC"/>
                <a:ea typeface="PingFang SC"/>
              </a:rPr>
              <a:t>H4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84064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44"/>
                </a:solidFill>
                <a:latin typeface="PingFang SC"/>
                <a:ea typeface="PingFang SC"/>
              </a:rPr>
              <a:t>老师上手更快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79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8622A"/>
                </a:solidFill>
                <a:latin typeface="PingFang SC"/>
                <a:ea typeface="PingFang SC"/>
              </a:rPr>
              <a:t>这是猜想，不是结论。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5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样本小，时间短。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39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5409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打分主观，AI 评分会飘。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227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史料库薄，练习就弱。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5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角色互换：学生演人物，AI 追问。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39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5409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双人对质：两个立场相反的人物。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227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2430"/>
                </a:solidFill>
                <a:latin typeface="PingFang SC"/>
                <a:ea typeface="PingFang SC"/>
              </a:rPr>
              <a:t>更大规模对照实验。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AI 教育 · 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900" b="1" i="0">
                <a:solidFill>
                  <a:srgbClr val="1F2A44"/>
                </a:solidFill>
                <a:latin typeface="PingFang SC"/>
                <a:ea typeface="PingFang SC"/>
              </a:rPr>
              <a:t>参考文献与数据来源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86868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RAND Corporation（2026-03-17）. More Students Use AI for Homework and Believe It Harms Their Learning. n = 1,214，12–29 岁. rand.org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8775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HEPI（2025-02）. Student Generative AI Survey 2025. 45% 的学生在学校用过 AI. hepi.ac.uk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95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0954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Common Sense Media（2025）. 青少年生成式 AI 使用调查：85% 的 AI 使用者把它用于学业. commonsensemedia.org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31336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National Literacy Trust（2025-08）. Young people and teachers' use of generative AI：43.2% 教师担忧（+7.5pp）. literacytrust.org.uk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453128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CSBA Blog（2026-04）. Students express mixed feelings on AI use for homework. blog.csba.org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74920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Central Florida Public Media（2026-06）. 教师民调：54% 认为 AI 让批判性思考更难学.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967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6EA5"/>
                </a:solidFill>
                <a:latin typeface="PingFang SC"/>
                <a:ea typeface="PingFang SC"/>
              </a:rP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9671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B2430"/>
                </a:solidFill>
                <a:latin typeface="PingFang SC"/>
                <a:ea typeface="PingFang SC"/>
              </a:rPr>
              <a:t>RAND（2026-03）. 学生担忧比例 54% → 67%；聊天机器人使用率 60%（ChatGPT 53%、Gemini 28%）.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686"/>
                </a:solidFill>
                <a:latin typeface="PingFang SC"/>
                <a:ea typeface="PingFang SC"/>
              </a:rPr>
              <a:t>检索日期：2026-10-28。数字以原文为准；不同调查对「使用 AI」的定义不同（16%–85%）。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D3E4"/>
                </a:solidFill>
                <a:latin typeface="PingFang SC"/>
                <a:ea typeface="PingFang SC"/>
              </a:rPr>
              <a:t>谢谢，欢迎提问。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686"/>
                </a:solidFill>
                <a:latin typeface="PingFang SC"/>
                <a:ea typeface="PingFang S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