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使用 AI 做作业的比例</c:v>
                </c:pt>
              </c:strCache>
            </c:strRef>
          </c:tx>
          <c:spPr>
            <a:solidFill>
              <a:srgbClr val="3A6EA5"/>
            </a:solidFill>
          </c:spPr>
          <c:cat>
            <c:strRef>
              <c:f>Sheet1!$A$2:$A$3</c:f>
              <c:strCache>
                <c:ptCount val="2"/>
                <c:pt idx="0">
                  <c:v>2025 年 5 月</c:v>
                </c:pt>
                <c:pt idx="1">
                  <c:v>2025 年 12 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使用比例</c:v>
                </c:pt>
              </c:strCache>
            </c:strRef>
          </c:tx>
          <c:spPr>
            <a:solidFill>
              <a:srgbClr val="2F6F5E"/>
            </a:solidFill>
          </c:spPr>
          <c:cat>
            <c:strRef>
              <c:f>Sheet1!$A$2:$A$4</c:f>
              <c:strCache>
                <c:ptCount val="3"/>
                <c:pt idx="0">
                  <c:v>获得更好的解释</c:v>
                </c:pt>
                <c:pt idx="1">
                  <c:v>发散想法</c:v>
                </c:pt>
                <c:pt idx="2">
                  <c:v>查事实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35</c:v>
                </c:pt>
                <c:pt idx="2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0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B6E0"/>
                </a:solidFill>
                <a:latin typeface="Arial"/>
                <a:ea typeface="PingFang SC"/>
              </a:rPr>
              <a:t>AI IN EDUCATION  ·  RESEARCH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</a:rPr>
              <a:t>当 AI 比学生更会「给答案」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C7D3E4"/>
                </a:solidFill>
                <a:latin typeface="Arial"/>
                <a:ea typeface="PingFang SC"/>
              </a:rPr>
              <a:t>用「不可靠的历史叙述者」训练历史思维 —— 一项设计与评估研究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343400"/>
            <a:ext cx="10972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5371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AEC4"/>
                </a:solidFill>
                <a:latin typeface="Arial"/>
                <a:ea typeface="PingFang SC"/>
              </a:rPr>
              <a:t>[小组成员]   ·   AI in Education   · 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我们想回答三个问题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29968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29968"/>
            <a:ext cx="64008" cy="105156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3113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6EA5"/>
                </a:solidFill>
                <a:latin typeface="Arial"/>
                <a:ea typeface="PingFang SC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1284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2A44"/>
                </a:solidFill>
                <a:latin typeface="Arial"/>
                <a:ea typeface="PingFang SC"/>
              </a:rPr>
              <a:t>AI 进入学习之后，学生获得知识的路径发生了什么变化？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3347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686"/>
                </a:solidFill>
                <a:latin typeface="Arial"/>
                <a:ea typeface="PingFang SC"/>
              </a:rPr>
              <a:t>从「找答案」到「交给 AI 给答案」。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64408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64408"/>
            <a:ext cx="64008" cy="105156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6557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6EA5"/>
                </a:solidFill>
                <a:latin typeface="Arial"/>
                <a:ea typeface="PingFang SC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4728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2A44"/>
                </a:solidFill>
                <a:latin typeface="Arial"/>
                <a:ea typeface="PingFang SC"/>
              </a:rPr>
              <a:t>历史思维能否被 AI 训练，而不是被 AI 替代？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679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686"/>
                </a:solidFill>
                <a:latin typeface="Arial"/>
                <a:ea typeface="PingFang SC"/>
              </a:rPr>
              <a:t>溯源、语境化、交叉验证——恰是最容易被代劳的部分。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98848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498848"/>
            <a:ext cx="64008" cy="105156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0001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6EA5"/>
                </a:solidFill>
                <a:latin typeface="Arial"/>
                <a:ea typeface="PingFang SC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8172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2A44"/>
                </a:solidFill>
                <a:latin typeface="Arial"/>
                <a:ea typeface="PingFang SC"/>
              </a:rPr>
              <a:t>这种能力如何评估？评分可信吗？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0235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686"/>
                </a:solidFill>
                <a:latin typeface="Arial"/>
                <a:ea typeface="PingFang SC"/>
              </a:rPr>
              <a:t>需要可测量的指标 + 可验证的评分信度。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7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3A6EA5"/>
                </a:solidFill>
                <a:latin typeface="Arial"/>
                <a:ea typeface="PingFang SC"/>
              </a:rPr>
              <a:t>我们不问「AI 能不能教」，而问「AI 会不会让学生不再需要思考」。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背景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用 AI 做作业，正在从「少数人」变成「多数人」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075688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78040" y="2167128"/>
            <a:ext cx="4206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2322576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8622A"/>
                </a:solidFill>
                <a:latin typeface="Arial"/>
                <a:ea typeface="PingFang SC"/>
              </a:rPr>
              <a:t>+14 个百分点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87121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PingFang SC"/>
              </a:rPr>
              <a:t>7 个月内（n = 1,214 名青少年）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3794760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3721608"/>
            <a:ext cx="3922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45% 的学生在学校用过 AI（HEPI, 2025）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4471416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4398264"/>
            <a:ext cx="3922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85% 使用 AI 的青少年把它用于学业（Common Sense Media）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PingFang SC"/>
              </a:rPr>
              <a:t>Sources: RAND (2026-03, n=1,214), HEPI Student Generative AI Survey (2025-02), Common Sense Media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背景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但用途高度集中在「把问题交给 AI」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121408"/>
          <a:ext cx="6949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258568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5328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A6EA5"/>
                </a:solidFill>
                <a:latin typeface="Arial"/>
                <a:ea typeface="PingFang SC"/>
              </a:rPr>
              <a:t>读数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898648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三种高频用途，本质都是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「让 AI 替我想」。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几乎没有一项是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「用 AI 检验我的判断」。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PingFang SC"/>
              </a:rPr>
              <a:t>Source: CSBA Blog 引用的学生调查（2026-04）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背景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教师的担忧：不是「用不用」，而是「还思不思考」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29968"/>
            <a:ext cx="32918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29968"/>
            <a:ext cx="3291840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2A44"/>
                </a:solidFill>
                <a:latin typeface="Arial"/>
                <a:ea typeface="PingFang SC"/>
              </a:rPr>
              <a:t>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81528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教师认为 AI 让学生更难学会批判性思考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02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PingFang SC"/>
              </a:rPr>
              <a:t>美国教师民调（2026-06）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29968"/>
            <a:ext cx="32918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29968"/>
            <a:ext cx="3291840" cy="64008"/>
          </a:xfrm>
          <a:prstGeom prst="rect">
            <a:avLst/>
          </a:prstGeom>
          <a:solidFill>
            <a:srgbClr val="C8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5000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2A44"/>
                </a:solidFill>
                <a:latin typeface="Arial"/>
                <a:ea typeface="PingFang SC"/>
              </a:rPr>
              <a:t>43.2%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81528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教师担忧学生使用生成式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502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PingFang SC"/>
              </a:rPr>
              <a:t>同比上升 7.5 个百分点（National Literacy Trust, 2025-08）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029968"/>
            <a:ext cx="32918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029968"/>
            <a:ext cx="3291840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35000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2A44"/>
                </a:solidFill>
                <a:latin typeface="Arial"/>
                <a:ea typeface="PingFang SC"/>
              </a:rPr>
              <a:t>66%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081528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英格兰中学教师表达担忧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502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686"/>
                </a:solidFill>
                <a:latin typeface="Arial"/>
                <a:ea typeface="PingFang SC"/>
              </a:rPr>
              <a:t>针对数千名教师的调查（2026）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27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A44"/>
                </a:solidFill>
                <a:latin typeface="Arial"/>
                <a:ea typeface="PingFang SC"/>
              </a:rPr>
              <a:t>担忧的核心不是工具本身，而是「思考过程被跳过」。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PingFang SC"/>
              </a:rPr>
              <a:t>Sources: Central Florida Public Media (2026-06), National Literacy Trust (2025-08), England teacher survey (2026)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历史学科最怕的，正是最容易被代劳的那部分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58568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2057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AI 直接给出结论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24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258568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2350008"/>
            <a:ext cx="2057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学生跳过求证过程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624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19" y="2258568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2350008"/>
            <a:ext cx="2057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溯源 / 语境化 / 交叉验证 被架空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624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2258568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19" y="2350008"/>
            <a:ext cx="2057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  <a:ea typeface="PingFang SC"/>
              </a:rPr>
              <a:t>只剩「知道结论」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703320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3" y="3630168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PingFang SC"/>
              </a:rPr>
              <a:t>历史思维不是「知道发生了什么」，而是「凭什么相信它发生过」。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3959352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PingFang SC"/>
              </a:rPr>
              <a:t>史料溯源、语境化、交叉验证——这三件事无法靠听讲获得，只能练。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27448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3" y="4654296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2430"/>
                </a:solidFill>
                <a:latin typeface="Arial"/>
                <a:ea typeface="PingFang SC"/>
              </a:rPr>
              <a:t>AI 越流畅，学生越没有理由去查证。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4983480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7686"/>
                </a:solidFill>
                <a:latin typeface="Arial"/>
                <a:ea typeface="PingFang SC"/>
              </a:rPr>
              <a:t>这正是我们要设计的「逆操作」：不是让 AI 更好用，而是让它必须被怀疑。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Arial"/>
                <a:ea typeface="PingFang SC"/>
              </a:rPr>
              <a:t>结论：历史学科需要的不是「更聪明的 AI」，而是「值得被质疑的 AI」。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现有 AI + 教育的五种主流做法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38528"/>
            <a:ext cx="106070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1" y="20299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典型形态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299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解决什么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共同点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86584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44144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AI 答疑 / 智能导师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44144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对话式讲解、逐步提示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4144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降低理解门槛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414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缩短学生与答案的距离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546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作文自动批改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154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评分 + 修改建议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15468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减轻教师负担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1546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同上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813048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86791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题库 / 练习生成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386791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按知识点生成题目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86791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规模化练习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8679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同上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581144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语言翻译与陪练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458114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即时翻译、口语对话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581144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跨越语言障碍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458114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同上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9512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29437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角色扮演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529437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与历史人物 / 情境对话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5294376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提升沉浸感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5294376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6EA5"/>
                </a:solidFill>
                <a:latin typeface="Arial"/>
                <a:ea typeface="PingFang SC"/>
              </a:rPr>
              <a:t>多为「聊天」，少为「求证」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17336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F2A44"/>
                </a:solidFill>
                <a:latin typeface="Arial"/>
                <a:ea typeface="PingFang SC"/>
              </a:rPr>
              <a:t>五种做法都在做同一件事：缩短学生与答案之间的距离。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研究缺口：把「AI 会错」当成教学材料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2075688"/>
            <a:ext cx="5852160" cy="329184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2075688"/>
            <a:ext cx="18288" cy="329184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3721608"/>
            <a:ext cx="5852160" cy="18288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547725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AI 的角色：给答案  ←→  被审视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3538728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通用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5184648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历史 / 史料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075688"/>
            <a:ext cx="2926080" cy="1645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1368" y="2350008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AI 答疑 / 批改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（现有工作主流）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5000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较少见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721608"/>
            <a:ext cx="2926080" cy="1645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1368" y="3995928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历史人物聊天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（现有工作主流）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3922776"/>
            <a:ext cx="2523744" cy="124358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4105656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PingFang SC"/>
              </a:rPr>
              <a:t>本项目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PingFang SC"/>
              </a:rPr>
              <a:t>AI 被审视 × 史料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2286000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2212848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PingFang SC"/>
              </a:rPr>
              <a:t>角色扮演多用于语言学习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2834639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2761487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PingFang SC"/>
              </a:rPr>
              <a:t>历史思维评估少见于交互系统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3383279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144" y="3310127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Arial"/>
                <a:ea typeface="PingFang SC"/>
              </a:rPr>
              <a:t>把「模型不可靠」当教材的几乎没有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8251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Arial"/>
                <a:ea typeface="PingFang SC"/>
              </a:rPr>
              <a:t>定位基于对现有 AI+教育 工作的归纳，非穷尽性综述。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我们的方案：让 AI 成为一个「值得被质疑」的当事人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2A44"/>
                </a:solidFill>
                <a:latin typeface="Arial"/>
                <a:ea typeface="PingFang SC"/>
              </a:rPr>
              <a:t>AI 扮演有立场、可能出错的历史人物；学生必须用史料交叉验证，再为自己的决策辩护。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990088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1729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PingFang SC"/>
              </a:rPr>
              <a:t>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向人物提问、质疑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3511296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2990088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2990088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1729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PingFang SC"/>
              </a:rPr>
              <a:t>核对史料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661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判断说法与史料是否相符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511296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2990088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3" y="2990088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31729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PingFang SC"/>
              </a:rPr>
              <a:t>做抉择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5661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在历史节点上选择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11296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6055" y="2990088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6055" y="2990088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31729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PingFang SC"/>
              </a:rPr>
              <a:t>提交论证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35661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写出选择与依据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511296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2328" y="2990088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82328" y="2990088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5" y="31729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Arial"/>
                <a:ea typeface="PingFang SC"/>
              </a:rPr>
              <a:t>反馈与画像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5" y="35661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五维评分 + 自评对比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36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A6EA5"/>
                </a:solidFill>
                <a:latin typeface="Arial"/>
                <a:ea typeface="PingFang SC"/>
              </a:rPr>
              <a:t>关键区别：AI 不是「答案来源」，而是「需要被检验的信源」。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系统由四个模块组成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29968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29968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402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场景引擎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设定历史时刻与决策点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29968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2029968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402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史料库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一手/二手史料，带出处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029968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2029968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2402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角色智能体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扮演人物，受史料约束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029968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029968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2402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诊断与教师端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评分、画像、学情分析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3016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B2430"/>
                </a:solidFill>
                <a:latin typeface="Arial"/>
                <a:ea typeface="PingFang SC"/>
              </a:rPr>
              <a:t>实现上只用「预训练模型 API + 提示工程 + 小型史料库」，不训练、不微调任何模型。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B2430"/>
                </a:solidFill>
                <a:latin typeface="Arial"/>
                <a:ea typeface="PingFang SC"/>
              </a:rPr>
              <a:t>这是一个自觉的范围决策：把有限时间放在教学设计与评估上。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18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686"/>
                </a:solidFill>
                <a:latin typeface="Arial"/>
                <a:ea typeface="PingFang SC"/>
              </a:rPr>
              <a:t>[ 此处放系统截图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USAGE · 学生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学生怎么用：四步走完一个学习闭环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67128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00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00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选人物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从人物卡片进入对话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167128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3500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9900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追问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401568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质疑它的说法与依据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167128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3500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9900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核对史料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401568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判断说法与史料是否一致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167128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235000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9900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抉择 + 论证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3401568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686"/>
                </a:solidFill>
                <a:latin typeface="Arial"/>
                <a:ea typeface="PingFang SC"/>
              </a:rPr>
              <a:t>选择并写出理由，再做自评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686"/>
                </a:solidFill>
                <a:latin typeface="Arial"/>
                <a:ea typeface="PingFang SC"/>
              </a:rPr>
              <a:t>[ 此处放学生端截图：对话 / 核对史料 / 抉择评分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USAGE · 教师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教师怎么用：三步把人物「开箱即用」地建起来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12848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358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生成限制词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填几句话即可生成；也可拖入现成文档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12848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9572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358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编辑史料与抉择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逐条增删改，支持拖拽排序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212848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39572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358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747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学生端立即生效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817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686"/>
                </a:solidFill>
                <a:latin typeface="Arial"/>
                <a:ea typeface="PingFang SC"/>
              </a:rPr>
              <a:t>[ 此处放教师端截图：向导 / 拖拽上传 / 抉择编辑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评估：把「历史思维」拆成五个可观察的维度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38528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38528"/>
            <a:ext cx="54864" cy="8686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4825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史料溯源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是否追问或标注信息的来源与立场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38528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38528"/>
            <a:ext cx="54864" cy="8686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4825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语境化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957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是否把决策放回当时的条件中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90088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90088"/>
            <a:ext cx="54864" cy="8686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09981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交叉验证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4472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是否对照多个来源而非只听一家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90088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90088"/>
            <a:ext cx="54864" cy="8686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9981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论证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4472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是否有「论点—证据—推理」的链条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041648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041648"/>
            <a:ext cx="54864" cy="8686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15137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历史共情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988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是否理解当时人的处境与限制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02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每项 0–3 分，合计 15 分；水平分为 起步 / 初步 / 较好 / 成熟 四档。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评分信度：把「AI 打分不可信」变成可测量的指标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21408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286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第一次评分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70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temperature =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78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21408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286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第二次评分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70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temperature =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578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21408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286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逐维比较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670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差值 0 / 1 / ≥2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78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21408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2286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Arial"/>
                <a:ea typeface="PingFang SC"/>
              </a:rPr>
              <a:t>标记复核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670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Arial"/>
                <a:ea typeface="PingFang SC"/>
              </a:rPr>
              <a:t>低一致性 → 人工复核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30168"/>
            <a:ext cx="10607040" cy="11887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13048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一致性「高 / 中 / 低」直接显示给学生与教师；低一致性不静默通过，而是提示复核。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B2430"/>
                </a:solidFill>
                <a:latin typeface="Arial"/>
                <a:ea typeface="PingFang SC"/>
              </a:rPr>
              <a:t>这是本项目在「评估」上的核心主张：可信度必须被报告，而不是被假设。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用户反馈（虚拟示例 · 待实测替换）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38528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48256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「以前问 AI 它直接把答案给我；现在它反问我，我反而得自己想。」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2311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学生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38528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48256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「核对史料那一步我才发现，AI 说的跟课本不一样，不能全信。」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9" y="22311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学生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17520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127248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「自评时我觉得自己写得挺好，结果 AI 只给 2 分，差得有点多。」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310127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学生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120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127248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「这个能不能用到别的科目？」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9" y="3310127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学生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96512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206240"/>
            <a:ext cx="9235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「以前最花时间是写人设提示词，现在点一下就能生成。」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59" y="4389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教师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C8622A"/>
                </a:solidFill>
                <a:latin typeface="Arial"/>
                <a:ea typeface="PingFang SC"/>
              </a:rPr>
              <a:t>⚠️ 以上为虚拟示例，仅用于演示结论框架；实际测试后将整条替换。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反馈如何转成研究结论：一个四类编码框架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38528"/>
            <a:ext cx="106070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编码类别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0299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典型表述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20299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PingFang SC"/>
              </a:rPr>
              <a:t>它想检验什么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86584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4414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认知负荷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44144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「更累了，但我也更投入了」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244144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任务是否有挑战但可完成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1546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信任校准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31546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「原来 AI 也会说错」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31546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是否形成对 AI 的合理怀疑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13048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8679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元认知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86791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「我以为我写得挺好」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386791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自评与 AI 评分的差距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58114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44"/>
                </a:solidFill>
                <a:latin typeface="Arial"/>
                <a:ea typeface="PingFang SC"/>
              </a:rPr>
              <a:t>迁移意愿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4581144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「能不能用到别的科目」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4581144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能力是否被视为可迁移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31536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3A6EA5"/>
                </a:solidFill>
                <a:latin typeface="Arial"/>
                <a:ea typeface="PingFang SC"/>
              </a:rPr>
              <a:t>同一类编码在多次测试中重复出现，才上升为「研究结论」。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由反馈推出的四条待验证假设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75688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75688"/>
            <a:ext cx="64008" cy="9601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7685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PingFang SC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40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认知卸载被逆转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58568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从「要答案」转为「被逼着论证」，主观上更累、更投入。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91256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91256"/>
            <a:ext cx="64008" cy="9601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9242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PingFang SC"/>
              </a:rP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355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批判性 AI 素养可教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74136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核对史料能触发「AI 会错」的认知，并可能迁移到其他信源。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06824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06824"/>
            <a:ext cx="64008" cy="9601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07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PingFang SC"/>
              </a:rPr>
              <a:t>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4714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元认知可校准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489704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自评与 AI 评分的差距，可作为元认知准确性的可测指标。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22392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422392"/>
            <a:ext cx="64008" cy="9601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235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Arial"/>
                <a:ea typeface="PingFang SC"/>
              </a:rPr>
              <a:t>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58698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Arial"/>
                <a:ea typeface="PingFang SC"/>
              </a:rPr>
              <a:t>教师门槛可降低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605272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Arial"/>
                <a:ea typeface="PingFang SC"/>
              </a:rPr>
              <a:t>一键生成限制词，显著降低自定义人物的备课成本。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58367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C8622A"/>
                </a:solidFill>
                <a:latin typeface="Arial"/>
                <a:ea typeface="PingFang SC"/>
              </a:rPr>
              <a:t>注意：这是假设，不是结论；需要实测数据检验。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011680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1938528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样本小、周期短。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267712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目前只有设计与小规模试用，任何「学习增益」都只是信号，不是证据。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90088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916936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评分主观且不稳定。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246120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五维 rubric 只能近似历史思维；双评分能暴露不一致，但不能消除它。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68496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3895344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史实依赖史料库。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24527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史料库薄，练习就弱；冷门人物尤其明显。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946903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873751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数据口径不一。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202935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不同调查对「使用 AI」的定义不同（16%–85%），引用时必须注明来源与样本。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Arial"/>
                <a:ea typeface="PingFang SC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955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F2A44"/>
                </a:solidFill>
                <a:latin typeface="Arial"/>
                <a:ea typeface="PingFang SC"/>
              </a:rPr>
              <a:t>未来工作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011680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1938528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角色互换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267712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学生扮演历史人物，AI 扮演追问者——把「被质询」变成「被追问」。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80944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907791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双人对质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236975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同场景引入两个立场相反的人物，让学生处理互相矛盾的叙述。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50207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3877055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更大规模的对照实验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06239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实验组 vs 常规 AI 答疑，测量历史思维与 AI 素养的变化。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919471"/>
            <a:ext cx="77724" cy="7772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846319"/>
            <a:ext cx="10186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B2430"/>
                </a:solidFill>
                <a:latin typeface="Arial"/>
                <a:ea typeface="PingFang SC"/>
              </a:rPr>
              <a:t>人物内容三语化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75503"/>
            <a:ext cx="10186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686"/>
                </a:solidFill>
                <a:latin typeface="Arial"/>
                <a:ea typeface="PingFang SC"/>
              </a:rPr>
              <a:t>让中文、繁体、英文课堂都能直接使用。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PingFang S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3E4"/>
                </a:solidFill>
                <a:latin typeface="Arial"/>
                <a:ea typeface="PingFang SC"/>
              </a:rPr>
              <a:t>谢谢 —— 欢迎提问与批评。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F9FB5"/>
                </a:solidFill>
                <a:latin typeface="Arial"/>
                <a:ea typeface="PingFang SC"/>
              </a:rPr>
              <a:t>演示与代码：github.com/takakun09/ai-history-simulator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Arial"/>
                <a:ea typeface="PingFang SC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